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ore0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3"/>
    <p:sldId id="265" r:id="rId12"/>
    <p:sldId id="267" r:id="rId14"/>
    <p:sldId id="268" r:id="rId15"/>
    <p:sldId id="269" r:id="rId16"/>
    <p:sldId id="270" r:id="rId17"/>
  </p:sldIdLst>
  <p:sldSz cx="12192000" cy="6858000"/>
  <p:notesSz cx="6858000" cy="12192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62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06EB6F8-5BFF-4876-B7A1-06F5C1F46E6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組員｜開場。先提出問題：一位剛完成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HYROX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的運動者，領完獎牌、整理完自己後，下一步會去哪裡？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7D6C310-B45A-478E-BC43-79705E8DF0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30–35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秒解釋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HYROX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，讓不熟悉賽事的老師與同學快速理解。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1CEC2D-339F-4A73-928D-AFC2E0F735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組員｜說明消費者有痛點，但不會直接搜尋紅光艙；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HYROX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提供了教育新品類的真實時刻。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23536C-C388-4C3F-879C-B7236238985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組員｜強調「艙體＋體驗服務」，不要把報告講成設備規格介紹。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48688F0-607A-4645-BA89-96FDB49EDC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組員｜說明選手的三個時間點，讓行銷不是只發生在賽事當天。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D8CC6D-D666-4B42-A515-D01D0F476E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組員｜這一頁把老師最在意的「成效」說清楚：不是憑空承諾成長，而是說明要驗證什麼。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63D40C-AC64-402C-B6A0-B72F03AA66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組員｜結束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段，交棒給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組員說明年度禮遇與現場執行。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F0EF6E-A073-4E18-B8BF-B14B8F4EC0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組員｜先得獎者，建立高價值服務的象徵，再讓一般參賽者產生嚮往與預約動機。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E65027-4B54-4C04-AEE5-0D945851C9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組員｜說明空間如何把賽後疲勞的時刻轉成品牌理解與預約。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1184EA-7BAD-4B78-8727-2680E485C7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組員｜說明大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的角色不是拍照板，而是把專業恢復觀念變成情境與信任。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A7522CC-31FA-450C-A4F8-EA512A1381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組員｜補足「現場要做什麼」：不是擺攤，而是四個可執行、可導流、可拍攝的活動。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B51DEE8-F819-46F8-9214-232ED00D9C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組員｜把媒體分成賽前、現場、賽後；不是亂撒渠道，而是每個渠道負責一段任務。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189ACC6-E130-4054-92BB-8AFCBC7CDA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組員｜呈現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SEO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Landing Page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如何連接；不是只做關鍵字，而是讓每種意圖都有下一步。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DFF55A-48DA-4E34-A977-0B44609246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組員｜這一頁修正了原本箭頭白字對比不足；口頭只說四個階段與事件追蹤，不要逐字念。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7BF6E5-C835-4C96-8ABC-460B5C02BC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組員｜結尾：驗證三件事，並把台北模式延伸至全球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HYROX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賽事合作。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D5CF9F5-1CCF-4A71-AE3F-AA14F3D2AC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510480"/>
            <a:ext cx="109720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hyperlink" Target="https://www.youtube.com/watch?v=-bMI-4QQ09A" TargetMode="External"/><Relationship Id="rId9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jpe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e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5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jpe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jpeg"/><Relationship Id="rId4" Type="http://schemas.openxmlformats.org/officeDocument/2006/relationships/image" Target="../media/image25.png"/><Relationship Id="rId5" Type="http://schemas.openxmlformats.org/officeDocument/2006/relationships/image" Target="../media/image5.png"/><Relationship Id="rId6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jpe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jpeg"/><Relationship Id="rId4" Type="http://schemas.openxmlformats.org/officeDocument/2006/relationships/image" Target="../media/image31.jpeg"/><Relationship Id="rId5" Type="http://schemas.openxmlformats.org/officeDocument/2006/relationships/image" Target="../media/image32.jpe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jpe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7.jpe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jpeg"/><Relationship Id="rId4" Type="http://schemas.openxmlformats.org/officeDocument/2006/relationships/image" Target="../media/image8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8.jpeg"/><Relationship Id="rId4" Type="http://schemas.openxmlformats.org/officeDocument/2006/relationships/image" Target="../media/image4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jpeg"/><Relationship Id="rId4" Type="http://schemas.openxmlformats.org/officeDocument/2006/relationships/image" Target="../media/image8.png"/><Relationship Id="rId5" Type="http://schemas.openxmlformats.org/officeDocument/2006/relationships/image" Target="../media/image46.png"/><Relationship Id="rId6" Type="http://schemas.openxmlformats.org/officeDocument/2006/relationships/image" Target="../media/image25.png"/><Relationship Id="rId7" Type="http://schemas.openxmlformats.org/officeDocument/2006/relationships/image" Target="../media/image51.png"/><Relationship Id="rId8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2.png"/><Relationship Id="rId4" Type="http://schemas.openxmlformats.org/officeDocument/2006/relationships/image" Target="../media/image10.png"/><Relationship Id="rId5" Type="http://schemas.openxmlformats.org/officeDocument/2006/relationships/image" Target="../media/image46.png"/><Relationship Id="rId6" Type="http://schemas.openxmlformats.org/officeDocument/2006/relationships/image" Target="../media/image29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9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4" descr="slide1_cropped.png"/>
          <p:cNvPicPr/>
          <p:nvPr/>
        </p:nvPicPr>
        <p:blipFill>
          <a:blip r:embed="rId3"/>
          <a:stretch/>
        </p:blipFill>
        <p:spPr>
          <a:xfrm>
            <a:off x="2226960" y="360"/>
            <a:ext cx="99648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 5"/>
          <p:cNvSpPr/>
          <p:nvPr/>
        </p:nvSpPr>
        <p:spPr>
          <a:xfrm>
            <a:off x="621720" y="978480"/>
            <a:ext cx="47541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整合行銷提案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621720" y="1417320"/>
            <a:ext cx="5074200" cy="60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113C3E"/>
                </a:solidFill>
                <a:effectLst/>
                <a:uFillTx/>
                <a:latin typeface="Inter"/>
                <a:ea typeface="Inter"/>
              </a:rPr>
              <a:t>REBOOT × HYROX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21720" y="1956960"/>
            <a:ext cx="438840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C000"/>
                </a:solidFill>
                <a:effectLst/>
                <a:uFillTx/>
                <a:latin typeface="Inter"/>
                <a:ea typeface="Inter"/>
              </a:rPr>
              <a:t>Taipei 2027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621720" y="2669760"/>
            <a:ext cx="1143000" cy="360"/>
          </a:xfrm>
          <a:prstGeom prst="line">
            <a:avLst/>
          </a:prstGeom>
          <a:ln w="2808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9" name="Text 9"/>
          <p:cNvSpPr/>
          <p:nvPr/>
        </p:nvSpPr>
        <p:spPr>
          <a:xfrm>
            <a:off x="621720" y="2953440"/>
            <a:ext cx="3976920" cy="86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完賽不是終點，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恢復才是下一場的起點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621720" y="4242600"/>
            <a:ext cx="3382560" cy="383400"/>
          </a:xfrm>
          <a:prstGeom prst="roundRect">
            <a:avLst>
              <a:gd name="adj" fmla="val 19048"/>
            </a:avLst>
          </a:prstGeom>
          <a:solidFill>
            <a:srgbClr val="113C3E"/>
          </a:solidFill>
          <a:ln w="12600">
            <a:solidFill>
              <a:srgbClr val="113C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694800" y="4260960"/>
            <a:ext cx="32364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整合行銷企劃｜重新開機計畫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621720" y="5139000"/>
            <a:ext cx="861336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C000"/>
                </a:solidFill>
                <a:effectLst/>
                <a:highlight>
                  <a:srgbClr val="008080"/>
                </a:highlight>
                <a:uFillTx/>
                <a:latin typeface="Noto Sans CJK TC"/>
                <a:ea typeface="Noto Sans CJK TC"/>
              </a:rPr>
              <a:t>2027.03.12–03.14  ·  </a:t>
            </a:r>
            <a:r>
              <a:rPr lang="zh-CN" sz="2800" b="1" u="none" strike="noStrike">
                <a:solidFill>
                  <a:srgbClr val="FFC000"/>
                </a:solidFill>
                <a:effectLst/>
                <a:highlight>
                  <a:srgbClr val="008080"/>
                </a:highlight>
                <a:uFillTx/>
                <a:latin typeface="Noto Sans CJK TC"/>
                <a:ea typeface="Noto Sans CJK TC"/>
              </a:rPr>
              <a:t>台北南港展覽館 </a:t>
            </a:r>
            <a:r>
              <a:rPr lang="en-US" sz="2800" b="1" u="none" strike="noStrike">
                <a:solidFill>
                  <a:srgbClr val="FFC000"/>
                </a:solidFill>
                <a:effectLst/>
                <a:highlight>
                  <a:srgbClr val="008080"/>
                </a:highlight>
                <a:uFillTx/>
                <a:latin typeface="Noto Sans CJK TC"/>
                <a:ea typeface="Noto Sans CJK TC"/>
              </a:rPr>
              <a:t>1 </a:t>
            </a:r>
            <a:r>
              <a:rPr lang="zh-CN" sz="2800" b="1" u="none" strike="noStrike">
                <a:solidFill>
                  <a:srgbClr val="FFC000"/>
                </a:solidFill>
                <a:effectLst/>
                <a:highlight>
                  <a:srgbClr val="008080"/>
                </a:highlight>
                <a:uFillTx/>
                <a:latin typeface="Noto Sans CJK TC"/>
                <a:ea typeface="Noto Sans CJK TC"/>
              </a:rPr>
              <a:t>館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8E5E2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Rectangle 25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" name="TextBox 26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Box 27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Rectangle 28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" name="TextBox 29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594360" y="32904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02  ·  HYROX </a:t>
            </a:r>
            <a:r>
              <a:rPr lang="zh-CN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基礎介紹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594360" y="804600"/>
            <a:ext cx="4937040" cy="54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為什麼選 </a:t>
            </a:r>
            <a:r>
              <a:rPr lang="en-US" sz="28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HYROX</a:t>
            </a:r>
            <a:r>
              <a:rPr lang="zh-CN" sz="28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？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6"/>
          <p:cNvSpPr/>
          <p:nvPr/>
        </p:nvSpPr>
        <p:spPr>
          <a:xfrm>
            <a:off x="594360" y="1417320"/>
            <a:ext cx="11000160" cy="360"/>
          </a:xfrm>
          <a:prstGeom prst="line">
            <a:avLst/>
          </a:prstGeom>
          <a:ln w="176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2" name="Text 7"/>
          <p:cNvSpPr/>
          <p:nvPr/>
        </p:nvSpPr>
        <p:spPr>
          <a:xfrm>
            <a:off x="594360" y="1627560"/>
            <a:ext cx="4982760" cy="114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HYROX </a:t>
            </a:r>
            <a:r>
              <a:rPr lang="zh-CN" sz="1600" b="0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是全球性室內健身賽事，以 </a:t>
            </a:r>
            <a:r>
              <a:rPr lang="en-US" sz="1600" b="0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8 × 1 </a:t>
            </a:r>
            <a:r>
              <a:rPr lang="zh-CN" sz="1600" b="0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公里跑步與 </a:t>
            </a:r>
            <a:r>
              <a:rPr lang="en-US" sz="1600" b="0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8 </a:t>
            </a:r>
            <a:r>
              <a:rPr lang="zh-CN" sz="1600" b="0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個功能性訓練站交替進行；參賽者在相同規則下挑戰自己，現場聚集選手、親友、教練與運動品牌。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Picture 33" descr="p2_collage.jpg"/>
          <p:cNvPicPr/>
          <p:nvPr/>
        </p:nvPicPr>
        <p:blipFill>
          <a:blip r:embed="rId3"/>
          <a:stretch/>
        </p:blipFill>
        <p:spPr>
          <a:xfrm>
            <a:off x="6016680" y="1572840"/>
            <a:ext cx="5577120" cy="356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Shape 8"/>
          <p:cNvSpPr/>
          <p:nvPr/>
        </p:nvSpPr>
        <p:spPr>
          <a:xfrm>
            <a:off x="6016680" y="1572840"/>
            <a:ext cx="5577120" cy="3565440"/>
          </a:xfrm>
          <a:prstGeom prst="rect">
            <a:avLst/>
          </a:prstGeom>
          <a:solidFill>
            <a:srgbClr val="113C3E">
              <a:alpha val="6000"/>
            </a:srgbClr>
          </a:solidFill>
          <a:ln w="10080">
            <a:solidFill>
              <a:srgbClr val="DCCD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5" name="Shape 9"/>
          <p:cNvSpPr/>
          <p:nvPr/>
        </p:nvSpPr>
        <p:spPr>
          <a:xfrm>
            <a:off x="594360" y="5413320"/>
            <a:ext cx="2632680" cy="840600"/>
          </a:xfrm>
          <a:prstGeom prst="roundRect">
            <a:avLst>
              <a:gd name="adj" fmla="val 6522"/>
            </a:avLst>
          </a:prstGeom>
          <a:solidFill>
            <a:srgbClr val="FFFEFA"/>
          </a:solidFill>
          <a:ln w="10080">
            <a:solidFill>
              <a:srgbClr val="DDCF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594360" y="5413320"/>
            <a:ext cx="2632680" cy="54000"/>
          </a:xfrm>
          <a:prstGeom prst="rect">
            <a:avLst/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37" name="Image 1" descr="preencoded.png"/>
          <p:cNvPicPr/>
          <p:nvPr/>
        </p:nvPicPr>
        <p:blipFill>
          <a:blip r:embed="rId4"/>
          <a:stretch/>
        </p:blipFill>
        <p:spPr>
          <a:xfrm>
            <a:off x="758880" y="562356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 11"/>
          <p:cNvSpPr/>
          <p:nvPr/>
        </p:nvSpPr>
        <p:spPr>
          <a:xfrm>
            <a:off x="1188720" y="5559480"/>
            <a:ext cx="18097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3C3E"/>
                </a:solidFill>
                <a:effectLst/>
                <a:uFillTx/>
                <a:latin typeface="Inter"/>
                <a:ea typeface="DejaVu Sans"/>
              </a:rPr>
              <a:t>8 × 1 </a:t>
            </a:r>
            <a:r>
              <a:rPr lang="zh-CN" sz="1800" b="1" u="none" strike="noStrike">
                <a:solidFill>
                  <a:srgbClr val="113C3E"/>
                </a:solidFill>
                <a:effectLst/>
                <a:uFillTx/>
                <a:latin typeface="Inter"/>
                <a:ea typeface="DejaVu Sans"/>
              </a:rPr>
              <a:t>公里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2"/>
          <p:cNvSpPr/>
          <p:nvPr/>
        </p:nvSpPr>
        <p:spPr>
          <a:xfrm>
            <a:off x="1188720" y="5897880"/>
            <a:ext cx="18097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9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跑步段落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3"/>
          <p:cNvSpPr/>
          <p:nvPr/>
        </p:nvSpPr>
        <p:spPr>
          <a:xfrm>
            <a:off x="3374280" y="5413320"/>
            <a:ext cx="2632680" cy="840600"/>
          </a:xfrm>
          <a:prstGeom prst="roundRect">
            <a:avLst>
              <a:gd name="adj" fmla="val 6522"/>
            </a:avLst>
          </a:prstGeom>
          <a:solidFill>
            <a:srgbClr val="FFFEFA"/>
          </a:solidFill>
          <a:ln w="10080">
            <a:solidFill>
              <a:srgbClr val="DDCF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1" name="Shape 14"/>
          <p:cNvSpPr/>
          <p:nvPr/>
        </p:nvSpPr>
        <p:spPr>
          <a:xfrm>
            <a:off x="3374280" y="5413320"/>
            <a:ext cx="2632680" cy="54000"/>
          </a:xfrm>
          <a:prstGeom prst="rect">
            <a:avLst/>
          </a:prstGeom>
          <a:solidFill>
            <a:srgbClr val="B89A42"/>
          </a:solidFill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42" name="Image 2" descr="preencoded.png"/>
          <p:cNvPicPr/>
          <p:nvPr/>
        </p:nvPicPr>
        <p:blipFill>
          <a:blip r:embed="rId5"/>
          <a:stretch/>
        </p:blipFill>
        <p:spPr>
          <a:xfrm>
            <a:off x="3538800" y="562356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Text 15"/>
          <p:cNvSpPr/>
          <p:nvPr/>
        </p:nvSpPr>
        <p:spPr>
          <a:xfrm>
            <a:off x="3968640" y="5559480"/>
            <a:ext cx="18097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3C3E"/>
                </a:solidFill>
                <a:effectLst/>
                <a:uFillTx/>
                <a:latin typeface="Inter"/>
                <a:ea typeface="Inter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3968640" y="5897880"/>
            <a:ext cx="18097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9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功能性訓練站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7"/>
          <p:cNvSpPr/>
          <p:nvPr/>
        </p:nvSpPr>
        <p:spPr>
          <a:xfrm>
            <a:off x="6153840" y="5413320"/>
            <a:ext cx="2632680" cy="840600"/>
          </a:xfrm>
          <a:prstGeom prst="roundRect">
            <a:avLst>
              <a:gd name="adj" fmla="val 6522"/>
            </a:avLst>
          </a:prstGeom>
          <a:solidFill>
            <a:srgbClr val="FFFEFA"/>
          </a:solidFill>
          <a:ln w="10080">
            <a:solidFill>
              <a:srgbClr val="DDCF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6" name="Shape 18"/>
          <p:cNvSpPr/>
          <p:nvPr/>
        </p:nvSpPr>
        <p:spPr>
          <a:xfrm>
            <a:off x="6153840" y="5413320"/>
            <a:ext cx="2632680" cy="54000"/>
          </a:xfrm>
          <a:prstGeom prst="rect">
            <a:avLst/>
          </a:prstGeom>
          <a:solidFill>
            <a:srgbClr val="C76A43"/>
          </a:solidFill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47" name="Image 3" descr="preencoded.png"/>
          <p:cNvPicPr/>
          <p:nvPr/>
        </p:nvPicPr>
        <p:blipFill>
          <a:blip r:embed="rId6"/>
          <a:stretch/>
        </p:blipFill>
        <p:spPr>
          <a:xfrm>
            <a:off x="6318360" y="562356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Text 19"/>
          <p:cNvSpPr/>
          <p:nvPr/>
        </p:nvSpPr>
        <p:spPr>
          <a:xfrm>
            <a:off x="6748200" y="5559480"/>
            <a:ext cx="18097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3C3E"/>
                </a:solidFill>
                <a:effectLst/>
                <a:uFillTx/>
                <a:latin typeface="Inter"/>
                <a:ea typeface="Inter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6748200" y="5897880"/>
            <a:ext cx="18097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9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DejaVu Sans"/>
              </a:rPr>
              <a:t>公開組 </a:t>
            </a:r>
            <a:r>
              <a:rPr lang="en-US" sz="889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DejaVu Sans"/>
              </a:rPr>
              <a:t>· </a:t>
            </a:r>
            <a:r>
              <a:rPr lang="zh-CN" sz="889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DejaVu Sans"/>
              </a:rPr>
              <a:t>專業組 </a:t>
            </a:r>
            <a:r>
              <a:rPr lang="en-US" sz="889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DejaVu Sans"/>
              </a:rPr>
              <a:t>· </a:t>
            </a:r>
            <a:r>
              <a:rPr lang="zh-CN" sz="889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DejaVu Sans"/>
              </a:rPr>
              <a:t>雙人組 </a:t>
            </a:r>
            <a:r>
              <a:rPr lang="en-US" sz="889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DejaVu Sans"/>
              </a:rPr>
              <a:t>· </a:t>
            </a:r>
            <a:r>
              <a:rPr lang="zh-CN" sz="889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DejaVu Sans"/>
              </a:rPr>
              <a:t>接力組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1"/>
          <p:cNvSpPr/>
          <p:nvPr/>
        </p:nvSpPr>
        <p:spPr>
          <a:xfrm>
            <a:off x="8933760" y="5413320"/>
            <a:ext cx="2632680" cy="840600"/>
          </a:xfrm>
          <a:prstGeom prst="roundRect">
            <a:avLst>
              <a:gd name="adj" fmla="val 6522"/>
            </a:avLst>
          </a:prstGeom>
          <a:solidFill>
            <a:srgbClr val="FFFEFA"/>
          </a:solidFill>
          <a:ln w="10080">
            <a:solidFill>
              <a:srgbClr val="DDCF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1" name="Shape 22"/>
          <p:cNvSpPr/>
          <p:nvPr/>
        </p:nvSpPr>
        <p:spPr>
          <a:xfrm>
            <a:off x="8933760" y="5413320"/>
            <a:ext cx="2632680" cy="54000"/>
          </a:xfrm>
          <a:prstGeom prst="rect">
            <a:avLst/>
          </a:prstGeom>
          <a:solidFill>
            <a:srgbClr val="7BB9B3"/>
          </a:solidFill>
          <a:ln w="12600">
            <a:solidFill>
              <a:srgbClr val="7BB9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52" name="Image 4" descr="preencoded.png"/>
          <p:cNvPicPr/>
          <p:nvPr/>
        </p:nvPicPr>
        <p:blipFill>
          <a:blip r:embed="rId7"/>
          <a:stretch/>
        </p:blipFill>
        <p:spPr>
          <a:xfrm>
            <a:off x="9098280" y="5623560"/>
            <a:ext cx="328320" cy="32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Text 23"/>
          <p:cNvSpPr/>
          <p:nvPr/>
        </p:nvSpPr>
        <p:spPr>
          <a:xfrm>
            <a:off x="9528120" y="5559480"/>
            <a:ext cx="180972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13C3E"/>
                </a:solidFill>
                <a:effectLst/>
                <a:uFillTx/>
                <a:latin typeface="Inter"/>
                <a:ea typeface="DejaVu Sans"/>
              </a:rPr>
              <a:t>3 </a:t>
            </a:r>
            <a:r>
              <a:rPr lang="zh-CN" sz="1800" b="1" u="none" strike="noStrike">
                <a:solidFill>
                  <a:srgbClr val="113C3E"/>
                </a:solidFill>
                <a:effectLst/>
                <a:uFillTx/>
                <a:latin typeface="Inter"/>
                <a:ea typeface="DejaVu Sans"/>
              </a:rPr>
              <a:t>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4"/>
          <p:cNvSpPr/>
          <p:nvPr/>
        </p:nvSpPr>
        <p:spPr>
          <a:xfrm>
            <a:off x="9528120" y="5897880"/>
            <a:ext cx="18097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9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DejaVu Sans"/>
              </a:rPr>
              <a:t>台北三日賽事</a:t>
            </a:r>
            <a:endParaRPr lang="en-US" sz="88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5"/>
          <p:cNvSpPr/>
          <p:nvPr/>
        </p:nvSpPr>
        <p:spPr>
          <a:xfrm>
            <a:off x="594360" y="6510600"/>
            <a:ext cx="109720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官方已確認：</a:t>
            </a:r>
            <a:r>
              <a:rPr lang="en-US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2027/3/12–3/14</a:t>
            </a:r>
            <a:r>
              <a:rPr lang="zh-CN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、南港展覽館 </a:t>
            </a:r>
            <a:r>
              <a:rPr lang="en-US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1 </a:t>
            </a:r>
            <a:r>
              <a:rPr lang="zh-CN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館、</a:t>
            </a:r>
            <a:r>
              <a:rPr lang="en-US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8 × 1 </a:t>
            </a:r>
            <a:r>
              <a:rPr lang="zh-CN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公里＋</a:t>
            </a:r>
            <a:r>
              <a:rPr lang="en-US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8 </a:t>
            </a:r>
            <a:r>
              <a:rPr lang="zh-CN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個訓練站。參賽規模為本案企劃推估，待主辦方公告。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6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C7473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觀看 2024 台北 HYROX 賽事影片">
            <a:hlinkClick r:id="rId8"/>
          </p:cNvPr>
          <p:cNvSpPr/>
          <p:nvPr/>
        </p:nvSpPr>
        <p:spPr>
          <a:xfrm>
            <a:off x="3401640" y="4050720"/>
            <a:ext cx="1699920" cy="383400"/>
          </a:xfrm>
          <a:prstGeom prst="roundRect">
            <a:avLst>
              <a:gd name="adj" fmla="val 16667"/>
            </a:avLst>
          </a:prstGeom>
          <a:solidFill>
            <a:srgbClr val="BF8504"/>
          </a:solidFill>
          <a:ln w="6480">
            <a:solidFill>
              <a:srgbClr val="BF850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Noto Sans CJK TC"/>
                <a:ea typeface="DejaVu Sans"/>
              </a:rPr>
              <a:t>▶ 點擊播放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2024 HYROX Taipei 影片連結" descr="video_thumb_clean.jpg">
            <a:hlinkClick r:id="rId8"/>
          </p:cNvPr>
          <p:cNvPicPr/>
          <p:nvPr/>
        </p:nvPicPr>
        <p:blipFill>
          <a:blip r:embed="rId9"/>
          <a:stretch/>
        </p:blipFill>
        <p:spPr>
          <a:xfrm>
            <a:off x="621720" y="3246120"/>
            <a:ext cx="4708440" cy="148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Box 37">
            <a:hlinkClick r:id="rId8"/>
          </p:cNvPr>
          <p:cNvSpPr/>
          <p:nvPr/>
        </p:nvSpPr>
        <p:spPr>
          <a:xfrm>
            <a:off x="2011680" y="3684960"/>
            <a:ext cx="2896920" cy="3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2024 </a:t>
            </a:r>
            <a:r>
              <a:rPr lang="zh-CN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台北 </a:t>
            </a: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 </a:t>
            </a:r>
            <a:r>
              <a:rPr lang="zh-CN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賽事回顧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38">
            <a:hlinkClick r:id="rId8"/>
          </p:cNvPr>
          <p:cNvSpPr/>
          <p:nvPr/>
        </p:nvSpPr>
        <p:spPr>
          <a:xfrm>
            <a:off x="2011680" y="3986640"/>
            <a:ext cx="169812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zh-CN" sz="1000" b="0" u="none" strike="noStrike">
                <a:solidFill>
                  <a:srgbClr val="DCDCDC"/>
                </a:solidFill>
                <a:effectLst/>
                <a:uFillTx/>
                <a:latin typeface="Arial"/>
                <a:ea typeface="DejaVu Sans"/>
              </a:rPr>
              <a:t>點擊觀看往屆台北賽事影片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40"/>
          <p:cNvSpPr/>
          <p:nvPr/>
        </p:nvSpPr>
        <p:spPr>
          <a:xfrm>
            <a:off x="11597760" y="311040"/>
            <a:ext cx="997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" name="Rectangle 58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" name="TextBox 59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0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61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" name="TextBox 62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94360" y="32904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03  ·  </a:t>
            </a:r>
            <a:r>
              <a:rPr lang="zh-CN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市場洞察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594360" y="804600"/>
            <a:ext cx="768024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恢復需求已存在，整合解法仍有認知缺口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6"/>
          <p:cNvSpPr/>
          <p:nvPr/>
        </p:nvSpPr>
        <p:spPr>
          <a:xfrm>
            <a:off x="594360" y="1417320"/>
            <a:ext cx="11000160" cy="360"/>
          </a:xfrm>
          <a:prstGeom prst="line">
            <a:avLst/>
          </a:prstGeom>
          <a:ln w="176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594360" y="1627560"/>
            <a:ext cx="6628680" cy="593640"/>
          </a:xfrm>
          <a:prstGeom prst="roundRect">
            <a:avLst>
              <a:gd name="adj" fmla="val 9231"/>
            </a:avLst>
          </a:prstGeom>
          <a:solidFill>
            <a:srgbClr val="FFFEFA"/>
          </a:solidFill>
          <a:ln w="1008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71" name="Image 0" descr="preencoded.png"/>
          <p:cNvPicPr/>
          <p:nvPr/>
        </p:nvPicPr>
        <p:blipFill>
          <a:blip r:embed="rId3"/>
          <a:stretch/>
        </p:blipFill>
        <p:spPr>
          <a:xfrm>
            <a:off x="822960" y="1792080"/>
            <a:ext cx="255240" cy="255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8"/>
          <p:cNvSpPr/>
          <p:nvPr/>
        </p:nvSpPr>
        <p:spPr>
          <a:xfrm>
            <a:off x="1225440" y="1755720"/>
            <a:ext cx="530280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運動後肌肉痠痛 怎麼辦…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9"/>
          <p:cNvSpPr/>
          <p:nvPr/>
        </p:nvSpPr>
        <p:spPr>
          <a:xfrm>
            <a:off x="594360" y="2505600"/>
            <a:ext cx="3172320" cy="2331000"/>
          </a:xfrm>
          <a:prstGeom prst="roundRect">
            <a:avLst>
              <a:gd name="adj" fmla="val 2353"/>
            </a:avLst>
          </a:prstGeom>
          <a:solidFill>
            <a:srgbClr val="113C3E"/>
          </a:solidFill>
          <a:ln w="10080">
            <a:solidFill>
              <a:srgbClr val="113C3E"/>
            </a:solidFill>
            <a:round/>
          </a:ln>
          <a:effectLst>
            <a:outerShdw blurRad="25560" dist="49893" dir="2700000" rotWithShape="0">
              <a:srgbClr val="000000">
                <a:alpha val="1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74" name="Shape 10"/>
          <p:cNvSpPr/>
          <p:nvPr/>
        </p:nvSpPr>
        <p:spPr>
          <a:xfrm>
            <a:off x="594360" y="2505600"/>
            <a:ext cx="3172320" cy="54000"/>
          </a:xfrm>
          <a:prstGeom prst="rect">
            <a:avLst/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841320" y="2770560"/>
            <a:ext cx="219384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2DBFC1"/>
                </a:solidFill>
                <a:effectLst/>
                <a:uFillTx/>
                <a:latin typeface="Inter"/>
                <a:ea typeface="DejaVu Sans"/>
              </a:rPr>
              <a:t>既有需求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2"/>
          <p:cNvSpPr/>
          <p:nvPr/>
        </p:nvSpPr>
        <p:spPr>
          <a:xfrm>
            <a:off x="841320" y="3200400"/>
            <a:ext cx="2605320" cy="7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FFFEFA"/>
                </a:solidFill>
                <a:effectLst/>
                <a:uFillTx/>
                <a:latin typeface="Noto Sans CJK TC"/>
                <a:ea typeface="Noto Sans CJK TC"/>
              </a:rPr>
              <a:t>消費者搜尋語言：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FFFEFA"/>
                </a:solidFill>
                <a:effectLst/>
                <a:uFillTx/>
                <a:latin typeface="Noto Sans CJK TC"/>
                <a:ea typeface="Noto Sans CJK TC"/>
              </a:rPr>
              <a:t>「痠痛、疲勞、乳酸」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3"/>
          <p:cNvSpPr/>
          <p:nvPr/>
        </p:nvSpPr>
        <p:spPr>
          <a:xfrm>
            <a:off x="868680" y="3922920"/>
            <a:ext cx="219384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DBFC1"/>
                </a:solidFill>
                <a:effectLst/>
                <a:uFillTx/>
                <a:latin typeface="Inter"/>
                <a:ea typeface="Inter"/>
              </a:rPr>
              <a:t>26,600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5"/>
          <p:cNvSpPr/>
          <p:nvPr/>
        </p:nvSpPr>
        <p:spPr>
          <a:xfrm>
            <a:off x="4005000" y="2505600"/>
            <a:ext cx="3218040" cy="2331000"/>
          </a:xfrm>
          <a:prstGeom prst="roundRect">
            <a:avLst>
              <a:gd name="adj" fmla="val 2353"/>
            </a:avLst>
          </a:prstGeom>
          <a:solidFill>
            <a:srgbClr val="E6D7AE"/>
          </a:solidFill>
          <a:ln w="10080">
            <a:solidFill>
              <a:srgbClr val="D5C18A"/>
            </a:solidFill>
            <a:round/>
          </a:ln>
          <a:effectLst>
            <a:outerShdw blurRad="322580160" dist="645159960" rotWithShape="0">
              <a:srgbClr val="00000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79" name="Shape 16"/>
          <p:cNvSpPr/>
          <p:nvPr/>
        </p:nvSpPr>
        <p:spPr>
          <a:xfrm>
            <a:off x="4005000" y="2505600"/>
            <a:ext cx="3218040" cy="54000"/>
          </a:xfrm>
          <a:prstGeom prst="rect">
            <a:avLst/>
          </a:prstGeom>
          <a:solidFill>
            <a:srgbClr val="C76A43"/>
          </a:solidFill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80" name="Text 17"/>
          <p:cNvSpPr/>
          <p:nvPr/>
        </p:nvSpPr>
        <p:spPr>
          <a:xfrm>
            <a:off x="4279320" y="2770560"/>
            <a:ext cx="219384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品類缺口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8"/>
          <p:cNvSpPr/>
          <p:nvPr/>
        </p:nvSpPr>
        <p:spPr>
          <a:xfrm>
            <a:off x="4279320" y="3044880"/>
            <a:ext cx="2797560" cy="1334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7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新品類關鍵字：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7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尚未形成既有搜尋需求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39" descr="p3_duo.jpg"/>
          <p:cNvPicPr/>
          <p:nvPr/>
        </p:nvPicPr>
        <p:blipFill>
          <a:blip r:embed="rId4"/>
          <a:stretch/>
        </p:blipFill>
        <p:spPr>
          <a:xfrm>
            <a:off x="7635240" y="1627560"/>
            <a:ext cx="3958560" cy="321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Shape 20"/>
          <p:cNvSpPr/>
          <p:nvPr/>
        </p:nvSpPr>
        <p:spPr>
          <a:xfrm>
            <a:off x="7635240" y="1627560"/>
            <a:ext cx="3958560" cy="3218040"/>
          </a:xfrm>
          <a:prstGeom prst="rect">
            <a:avLst/>
          </a:prstGeom>
          <a:solidFill>
            <a:srgbClr val="113C3E">
              <a:alpha val="13000"/>
            </a:srgbClr>
          </a:solidFill>
          <a:ln w="12600">
            <a:solidFill>
              <a:srgbClr val="DDCFB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84" name="Shape 21"/>
          <p:cNvSpPr/>
          <p:nvPr/>
        </p:nvSpPr>
        <p:spPr>
          <a:xfrm>
            <a:off x="868680" y="5230440"/>
            <a:ext cx="1416600" cy="383400"/>
          </a:xfrm>
          <a:prstGeom prst="roundRect">
            <a:avLst>
              <a:gd name="adj" fmla="val 19048"/>
            </a:avLst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40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85" name="Text 22"/>
          <p:cNvSpPr/>
          <p:nvPr/>
        </p:nvSpPr>
        <p:spPr>
          <a:xfrm>
            <a:off x="941760" y="5248800"/>
            <a:ext cx="12704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痛點搜尋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2" descr="preencoded.png"/>
          <p:cNvPicPr/>
          <p:nvPr/>
        </p:nvPicPr>
        <p:blipFill>
          <a:blip r:embed="rId5"/>
          <a:stretch/>
        </p:blipFill>
        <p:spPr>
          <a:xfrm>
            <a:off x="2487240" y="532188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Shape 23"/>
          <p:cNvSpPr/>
          <p:nvPr/>
        </p:nvSpPr>
        <p:spPr>
          <a:xfrm>
            <a:off x="2880360" y="5230440"/>
            <a:ext cx="1416600" cy="383400"/>
          </a:xfrm>
          <a:prstGeom prst="roundRect">
            <a:avLst>
              <a:gd name="adj" fmla="val 19048"/>
            </a:avLst>
          </a:prstGeom>
          <a:solidFill>
            <a:srgbClr val="B89A42"/>
          </a:solidFill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40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88" name="Text 24"/>
          <p:cNvSpPr/>
          <p:nvPr/>
        </p:nvSpPr>
        <p:spPr>
          <a:xfrm>
            <a:off x="2953440" y="5248800"/>
            <a:ext cx="12704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賽事情境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3" descr="preencoded.png"/>
          <p:cNvPicPr/>
          <p:nvPr/>
        </p:nvPicPr>
        <p:blipFill>
          <a:blip r:embed="rId5"/>
          <a:stretch/>
        </p:blipFill>
        <p:spPr>
          <a:xfrm>
            <a:off x="4498920" y="532188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Shape 25"/>
          <p:cNvSpPr/>
          <p:nvPr/>
        </p:nvSpPr>
        <p:spPr>
          <a:xfrm>
            <a:off x="4892040" y="5230440"/>
            <a:ext cx="1782360" cy="383400"/>
          </a:xfrm>
          <a:prstGeom prst="roundRect">
            <a:avLst>
              <a:gd name="adj" fmla="val 19048"/>
            </a:avLst>
          </a:prstGeom>
          <a:solidFill>
            <a:srgbClr val="E7B89E"/>
          </a:solidFill>
          <a:ln w="12600">
            <a:solidFill>
              <a:srgbClr val="E7B89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40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91" name="Text 26"/>
          <p:cNvSpPr/>
          <p:nvPr/>
        </p:nvSpPr>
        <p:spPr>
          <a:xfrm>
            <a:off x="4965120" y="5248800"/>
            <a:ext cx="163620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恢復流程認知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4" descr="preencoded.png"/>
          <p:cNvPicPr/>
          <p:nvPr/>
        </p:nvPicPr>
        <p:blipFill>
          <a:blip r:embed="rId5"/>
          <a:stretch/>
        </p:blipFill>
        <p:spPr>
          <a:xfrm>
            <a:off x="6876360" y="5321880"/>
            <a:ext cx="200520" cy="2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Shape 27"/>
          <p:cNvSpPr/>
          <p:nvPr/>
        </p:nvSpPr>
        <p:spPr>
          <a:xfrm>
            <a:off x="7269480" y="5230440"/>
            <a:ext cx="1965240" cy="383400"/>
          </a:xfrm>
          <a:prstGeom prst="roundRect">
            <a:avLst>
              <a:gd name="adj" fmla="val 19048"/>
            </a:avLst>
          </a:prstGeom>
          <a:solidFill>
            <a:srgbClr val="113C3E"/>
          </a:solidFill>
          <a:ln w="12600">
            <a:solidFill>
              <a:srgbClr val="113C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40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94" name="Text 28"/>
          <p:cNvSpPr/>
          <p:nvPr/>
        </p:nvSpPr>
        <p:spPr>
          <a:xfrm>
            <a:off x="7342560" y="5248800"/>
            <a:ext cx="181908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EFA"/>
                </a:solidFill>
                <a:effectLst/>
                <a:uFillTx/>
                <a:latin typeface="Noto Sans CJK TC"/>
                <a:ea typeface="Noto Sans CJK TC"/>
              </a:rPr>
              <a:t>30 </a:t>
            </a:r>
            <a:r>
              <a:rPr lang="zh-CN" sz="1600" b="1" u="none" strike="noStrike">
                <a:solidFill>
                  <a:srgbClr val="FFFEFA"/>
                </a:solidFill>
                <a:effectLst/>
                <a:uFillTx/>
                <a:latin typeface="Noto Sans CJK TC"/>
                <a:ea typeface="Noto Sans CJK TC"/>
              </a:rPr>
              <a:t>分鐘體驗預約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9"/>
          <p:cNvSpPr/>
          <p:nvPr/>
        </p:nvSpPr>
        <p:spPr>
          <a:xfrm>
            <a:off x="594360" y="5897880"/>
            <a:ext cx="1097208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策略切入：不是等待消費者搜尋 </a:t>
            </a:r>
            <a:r>
              <a:rPr lang="en-US" sz="18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REBOOT</a:t>
            </a:r>
            <a:r>
              <a:rPr lang="zh-CN" sz="18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，而是先從既有問題進場，再用 </a:t>
            </a:r>
            <a:r>
              <a:rPr lang="en-US" sz="18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HYROX </a:t>
            </a:r>
            <a:r>
              <a:rPr lang="zh-CN" sz="18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把恢復變成可體驗的下一步。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0"/>
          <p:cNvSpPr/>
          <p:nvPr/>
        </p:nvSpPr>
        <p:spPr>
          <a:xfrm>
            <a:off x="594360" y="6510600"/>
            <a:ext cx="109720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26,600 </a:t>
            </a:r>
            <a:r>
              <a:rPr lang="zh-CN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為關鍵字規劃工具各列區間值加總，不代表不重複使用者人數。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1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C7473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93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9" name="TextBox 94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95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96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" name="TextBox 97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45" descr="enhanced_bg_4.jp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 0"/>
          <p:cNvSpPr/>
          <p:nvPr/>
        </p:nvSpPr>
        <p:spPr>
          <a:xfrm>
            <a:off x="594360" y="32904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04  ·  </a:t>
            </a:r>
            <a:r>
              <a:rPr lang="zh-CN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價值主張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594360" y="804600"/>
            <a:ext cx="786312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我們真正要行銷的不是一台艙體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6"/>
          <p:cNvSpPr/>
          <p:nvPr/>
        </p:nvSpPr>
        <p:spPr>
          <a:xfrm>
            <a:off x="594360" y="1417320"/>
            <a:ext cx="11000160" cy="360"/>
          </a:xfrm>
          <a:prstGeom prst="line">
            <a:avLst/>
          </a:prstGeom>
          <a:ln w="176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594360" y="1664280"/>
            <a:ext cx="59886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艙體是服務載體；消費者真正採取行動的是一段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8"/>
          <p:cNvSpPr/>
          <p:nvPr/>
        </p:nvSpPr>
        <p:spPr>
          <a:xfrm>
            <a:off x="625320" y="2057760"/>
            <a:ext cx="5302800" cy="410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Noto Sans CJK TC"/>
                <a:ea typeface="Noto Sans CJK TC"/>
              </a:rPr>
              <a:t>30 </a:t>
            </a:r>
            <a:r>
              <a:rPr lang="zh-CN" sz="2400" b="1" u="none" strike="noStrike">
                <a:solidFill>
                  <a:srgbClr val="FF0000"/>
                </a:solidFill>
                <a:effectLst/>
                <a:uFillTx/>
                <a:latin typeface="Noto Sans CJK TC"/>
                <a:ea typeface="Noto Sans CJK TC"/>
              </a:rPr>
              <a:t>分鐘智能恢復體驗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9"/>
          <p:cNvSpPr/>
          <p:nvPr/>
        </p:nvSpPr>
        <p:spPr>
          <a:xfrm>
            <a:off x="625320" y="2684160"/>
            <a:ext cx="557712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5C7473"/>
                </a:solidFill>
                <a:effectLst/>
                <a:highlight>
                  <a:srgbClr val="FFFF00"/>
                </a:highlight>
                <a:uFillTx/>
                <a:latin typeface="Noto Sans CJK TC"/>
                <a:ea typeface="Noto Sans CJK TC"/>
              </a:rPr>
              <a:t>在 </a:t>
            </a:r>
            <a:r>
              <a:rPr lang="en-US" sz="1600" b="1" u="none" strike="noStrike">
                <a:solidFill>
                  <a:srgbClr val="5C7473"/>
                </a:solidFill>
                <a:effectLst/>
                <a:highlight>
                  <a:srgbClr val="FFFF00"/>
                </a:highlight>
                <a:uFillTx/>
                <a:latin typeface="Noto Sans CJK TC"/>
                <a:ea typeface="Noto Sans CJK TC"/>
              </a:rPr>
              <a:t>HYROX </a:t>
            </a:r>
            <a:r>
              <a:rPr lang="zh-CN" sz="1600" b="1" u="none" strike="noStrike">
                <a:solidFill>
                  <a:srgbClr val="5C7473"/>
                </a:solidFill>
                <a:effectLst/>
                <a:highlight>
                  <a:srgbClr val="FFFF00"/>
                </a:highlight>
                <a:uFillTx/>
                <a:latin typeface="Noto Sans CJK TC"/>
                <a:ea typeface="Noto Sans CJK TC"/>
              </a:rPr>
              <a:t>賽事現場，我們不先要求受眾購買高價設備，而是提供一段時間明確、流程具體、可被再次預約的賽後服務。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0"/>
          <p:cNvSpPr/>
          <p:nvPr/>
        </p:nvSpPr>
        <p:spPr>
          <a:xfrm>
            <a:off x="6720840" y="1600200"/>
            <a:ext cx="4845600" cy="4205520"/>
          </a:xfrm>
          <a:prstGeom prst="roundRect">
            <a:avLst>
              <a:gd name="adj" fmla="val 1304"/>
            </a:avLst>
          </a:prstGeom>
          <a:solidFill>
            <a:srgbClr val="FFFEFA"/>
          </a:solidFill>
          <a:ln w="10080">
            <a:solidFill>
              <a:srgbClr val="E3D7C6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111" name="Image 0" descr="/mnt/data/a_cinematic_high_end_interior_wellness_fitness_sc.png"/>
          <p:cNvPicPr/>
          <p:nvPr/>
        </p:nvPicPr>
        <p:blipFill>
          <a:blip r:embed="rId4"/>
          <a:srcRect t="2380" b="2380"/>
          <a:stretch/>
        </p:blipFill>
        <p:spPr>
          <a:xfrm>
            <a:off x="6903720" y="1783080"/>
            <a:ext cx="4479840" cy="319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Image 1" descr="preencoded.png"/>
          <p:cNvPicPr/>
          <p:nvPr/>
        </p:nvPicPr>
        <p:blipFill>
          <a:blip r:embed="rId5"/>
          <a:stretch/>
        </p:blipFill>
        <p:spPr>
          <a:xfrm>
            <a:off x="704160" y="373068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15"/>
          <p:cNvSpPr/>
          <p:nvPr/>
        </p:nvSpPr>
        <p:spPr>
          <a:xfrm>
            <a:off x="612720" y="4197240"/>
            <a:ext cx="43812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2DBFC1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6"/>
          <p:cNvSpPr/>
          <p:nvPr/>
        </p:nvSpPr>
        <p:spPr>
          <a:xfrm>
            <a:off x="612720" y="4443840"/>
            <a:ext cx="11880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理解狀態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2" descr="preencoded.png"/>
          <p:cNvPicPr/>
          <p:nvPr/>
        </p:nvPicPr>
        <p:blipFill>
          <a:blip r:embed="rId6"/>
          <a:stretch/>
        </p:blipFill>
        <p:spPr>
          <a:xfrm>
            <a:off x="1856160" y="4060080"/>
            <a:ext cx="182160" cy="18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Image 3" descr="preencoded.png"/>
          <p:cNvPicPr/>
          <p:nvPr/>
        </p:nvPicPr>
        <p:blipFill>
          <a:blip r:embed="rId7"/>
          <a:stretch/>
        </p:blipFill>
        <p:spPr>
          <a:xfrm>
            <a:off x="2212920" y="373068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17"/>
          <p:cNvSpPr/>
          <p:nvPr/>
        </p:nvSpPr>
        <p:spPr>
          <a:xfrm>
            <a:off x="2121480" y="4197240"/>
            <a:ext cx="43812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B89A42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8"/>
          <p:cNvSpPr/>
          <p:nvPr/>
        </p:nvSpPr>
        <p:spPr>
          <a:xfrm>
            <a:off x="2121480" y="4443840"/>
            <a:ext cx="11880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紅光照射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4" descr="preencoded.png"/>
          <p:cNvPicPr/>
          <p:nvPr/>
        </p:nvPicPr>
        <p:blipFill>
          <a:blip r:embed="rId6"/>
          <a:stretch/>
        </p:blipFill>
        <p:spPr>
          <a:xfrm>
            <a:off x="3364920" y="4060080"/>
            <a:ext cx="182160" cy="18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Image 5" descr="preencoded.png"/>
          <p:cNvPicPr/>
          <p:nvPr/>
        </p:nvPicPr>
        <p:blipFill>
          <a:blip r:embed="rId8"/>
          <a:stretch/>
        </p:blipFill>
        <p:spPr>
          <a:xfrm>
            <a:off x="3721680" y="373068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 19"/>
          <p:cNvSpPr/>
          <p:nvPr/>
        </p:nvSpPr>
        <p:spPr>
          <a:xfrm>
            <a:off x="3630240" y="4197240"/>
            <a:ext cx="43812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C76A43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0"/>
          <p:cNvSpPr/>
          <p:nvPr/>
        </p:nvSpPr>
        <p:spPr>
          <a:xfrm>
            <a:off x="3630240" y="4443840"/>
            <a:ext cx="11880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呼吸引導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6" descr="preencoded.png"/>
          <p:cNvPicPr/>
          <p:nvPr/>
        </p:nvPicPr>
        <p:blipFill>
          <a:blip r:embed="rId6"/>
          <a:stretch/>
        </p:blipFill>
        <p:spPr>
          <a:xfrm>
            <a:off x="4873680" y="4060080"/>
            <a:ext cx="182160" cy="18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Image 7" descr="preencoded.png"/>
          <p:cNvPicPr/>
          <p:nvPr/>
        </p:nvPicPr>
        <p:blipFill>
          <a:blip r:embed="rId9"/>
          <a:stretch/>
        </p:blipFill>
        <p:spPr>
          <a:xfrm>
            <a:off x="5230440" y="373068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21"/>
          <p:cNvSpPr/>
          <p:nvPr/>
        </p:nvSpPr>
        <p:spPr>
          <a:xfrm>
            <a:off x="5139000" y="4197240"/>
            <a:ext cx="43812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7BB9B3"/>
                </a:solidFill>
                <a:effectLst/>
                <a:uFillTx/>
                <a:latin typeface="Inter"/>
                <a:ea typeface="Inter"/>
              </a:rPr>
              <a:t>04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2"/>
          <p:cNvSpPr/>
          <p:nvPr/>
        </p:nvSpPr>
        <p:spPr>
          <a:xfrm>
            <a:off x="5139000" y="4443840"/>
            <a:ext cx="11880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恢復建議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3"/>
          <p:cNvSpPr/>
          <p:nvPr/>
        </p:nvSpPr>
        <p:spPr>
          <a:xfrm>
            <a:off x="594360" y="5148000"/>
            <a:ext cx="5760000" cy="694080"/>
          </a:xfrm>
          <a:prstGeom prst="roundRect">
            <a:avLst>
              <a:gd name="adj" fmla="val 7895"/>
            </a:avLst>
          </a:prstGeom>
          <a:solidFill>
            <a:srgbClr val="EAF1EC"/>
          </a:solidFill>
          <a:ln w="10080">
            <a:solidFill>
              <a:srgbClr val="D1DF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28" name="Text 24"/>
          <p:cNvSpPr/>
          <p:nvPr/>
        </p:nvSpPr>
        <p:spPr>
          <a:xfrm>
            <a:off x="822960" y="5330880"/>
            <a:ext cx="53028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50" b="1" u="none" strike="noStrike">
                <a:solidFill>
                  <a:srgbClr val="FF0000"/>
                </a:solidFill>
                <a:effectLst/>
                <a:uFillTx/>
                <a:latin typeface="Noto Sans CJK TC"/>
                <a:ea typeface="Noto Sans CJK TC"/>
              </a:rPr>
              <a:t>產品賣點不是「有紅光」，而是把零散方法整理成一段可理解、可安排的恢復流程。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5"/>
          <p:cNvSpPr/>
          <p:nvPr/>
        </p:nvSpPr>
        <p:spPr>
          <a:xfrm>
            <a:off x="7315200" y="5897880"/>
            <a:ext cx="3748320" cy="419760"/>
          </a:xfrm>
          <a:prstGeom prst="roundRect">
            <a:avLst>
              <a:gd name="adj" fmla="val 17391"/>
            </a:avLst>
          </a:prstGeom>
          <a:solidFill>
            <a:srgbClr val="113C3E"/>
          </a:solidFill>
          <a:ln w="12600">
            <a:solidFill>
              <a:srgbClr val="113C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30" name="Text 26"/>
          <p:cNvSpPr/>
          <p:nvPr/>
        </p:nvSpPr>
        <p:spPr>
          <a:xfrm>
            <a:off x="7388280" y="5916240"/>
            <a:ext cx="360216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DejaVu Sans"/>
              </a:rPr>
              <a:t>行動呼籲｜安排你的 </a:t>
            </a:r>
            <a:r>
              <a:rPr lang="en-US" sz="1100" b="1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DejaVu Sans"/>
              </a:rPr>
              <a:t>30 </a:t>
            </a:r>
            <a:r>
              <a:rPr lang="zh-CN" sz="1100" b="1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DejaVu Sans"/>
              </a:rPr>
              <a:t>分鐘重新開機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7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C7473"/>
                </a:solidFill>
                <a:effectLst/>
                <a:uFillTx/>
                <a:latin typeface="Inter"/>
                <a:ea typeface="Inter"/>
              </a:rPr>
              <a:t>04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134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3" name="TextBox 135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36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137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6" name="TextBox 138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139"/>
          <p:cNvSpPr/>
          <p:nvPr/>
        </p:nvSpPr>
        <p:spPr>
          <a:xfrm>
            <a:off x="8357760" y="5440680"/>
            <a:ext cx="655920" cy="21348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8" name="TextBox 140"/>
          <p:cNvSpPr/>
          <p:nvPr/>
        </p:nvSpPr>
        <p:spPr>
          <a:xfrm>
            <a:off x="8356680" y="5455080"/>
            <a:ext cx="658080" cy="18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21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41"/>
          <p:cNvSpPr/>
          <p:nvPr/>
        </p:nvSpPr>
        <p:spPr>
          <a:xfrm>
            <a:off x="9031320" y="5467320"/>
            <a:ext cx="784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142"/>
          <p:cNvSpPr/>
          <p:nvPr/>
        </p:nvSpPr>
        <p:spPr>
          <a:xfrm>
            <a:off x="9127800" y="5440680"/>
            <a:ext cx="541800" cy="21348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1" name="TextBox 143"/>
          <p:cNvSpPr/>
          <p:nvPr/>
        </p:nvSpPr>
        <p:spPr>
          <a:xfrm>
            <a:off x="9213840" y="5484960"/>
            <a:ext cx="369720" cy="12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594360" y="32904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05  ·  </a:t>
            </a:r>
            <a:r>
              <a:rPr lang="zh-CN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受眾與關鍵時刻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"/>
          <p:cNvSpPr/>
          <p:nvPr/>
        </p:nvSpPr>
        <p:spPr>
          <a:xfrm>
            <a:off x="594360" y="804600"/>
            <a:ext cx="758880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受眾定義與關鍵行銷時刻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6"/>
          <p:cNvSpPr/>
          <p:nvPr/>
        </p:nvSpPr>
        <p:spPr>
          <a:xfrm>
            <a:off x="594360" y="1417320"/>
            <a:ext cx="11000160" cy="360"/>
          </a:xfrm>
          <a:prstGeom prst="line">
            <a:avLst/>
          </a:prstGeom>
          <a:ln w="176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45" name="Shape 7"/>
          <p:cNvSpPr/>
          <p:nvPr/>
        </p:nvSpPr>
        <p:spPr>
          <a:xfrm>
            <a:off x="594360" y="1572840"/>
            <a:ext cx="1325160" cy="310320"/>
          </a:xfrm>
          <a:prstGeom prst="roundRect">
            <a:avLst>
              <a:gd name="adj" fmla="val 23529"/>
            </a:avLst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46" name="Text 8"/>
          <p:cNvSpPr/>
          <p:nvPr/>
        </p:nvSpPr>
        <p:spPr>
          <a:xfrm>
            <a:off x="667440" y="1591200"/>
            <a:ext cx="117900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EFA"/>
                </a:solidFill>
                <a:effectLst/>
                <a:uFillTx/>
                <a:latin typeface="Noto Sans CJK TC"/>
                <a:ea typeface="DejaVu Sans"/>
              </a:rPr>
              <a:t>核心受眾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9"/>
          <p:cNvSpPr/>
          <p:nvPr/>
        </p:nvSpPr>
        <p:spPr>
          <a:xfrm>
            <a:off x="1992960" y="1564200"/>
            <a:ext cx="274248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25–40 </a:t>
            </a:r>
            <a:r>
              <a:rPr lang="zh-CN" sz="1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歲都會運動者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0"/>
          <p:cNvSpPr/>
          <p:nvPr/>
        </p:nvSpPr>
        <p:spPr>
          <a:xfrm>
            <a:off x="4311720" y="1582560"/>
            <a:ext cx="67201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每週運動 </a:t>
            </a:r>
            <a:r>
              <a:rPr lang="en-US" sz="160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2–4 </a:t>
            </a:r>
            <a:r>
              <a:rPr lang="zh-CN" sz="160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次｜願意投資訓練，但賽後恢復仍靠休息、伸展、按摩或零散工具。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1"/>
          <p:cNvSpPr/>
          <p:nvPr/>
        </p:nvSpPr>
        <p:spPr>
          <a:xfrm>
            <a:off x="594360" y="2057400"/>
            <a:ext cx="3227040" cy="3611160"/>
          </a:xfrm>
          <a:prstGeom prst="roundRect">
            <a:avLst>
              <a:gd name="adj" fmla="val 1700"/>
            </a:avLst>
          </a:prstGeom>
          <a:solidFill>
            <a:srgbClr val="FFFEFA"/>
          </a:solidFill>
          <a:ln w="10080">
            <a:solidFill>
              <a:srgbClr val="DED2BF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50" name="Shape 12"/>
          <p:cNvSpPr/>
          <p:nvPr/>
        </p:nvSpPr>
        <p:spPr>
          <a:xfrm>
            <a:off x="594360" y="2057400"/>
            <a:ext cx="3227040" cy="54000"/>
          </a:xfrm>
          <a:prstGeom prst="rect">
            <a:avLst/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52" name="Text 13"/>
          <p:cNvSpPr/>
          <p:nvPr/>
        </p:nvSpPr>
        <p:spPr>
          <a:xfrm>
            <a:off x="801371" y="4446288"/>
            <a:ext cx="27424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1" u="none" strike="noStrike" dirty="0">
                <a:solidFill>
                  <a:srgbClr val="2DBFC1"/>
                </a:solidFill>
                <a:effectLst/>
                <a:uFillTx/>
                <a:latin typeface="Noto Sans CJK TC"/>
                <a:ea typeface="Noto Sans CJK TC"/>
              </a:rPr>
              <a:t>賽前｜認知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4"/>
          <p:cNvSpPr/>
          <p:nvPr/>
        </p:nvSpPr>
        <p:spPr>
          <a:xfrm>
            <a:off x="779710" y="4674708"/>
            <a:ext cx="27608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 dirty="0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需求攔截與品牌植入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5"/>
          <p:cNvSpPr/>
          <p:nvPr/>
        </p:nvSpPr>
        <p:spPr>
          <a:xfrm>
            <a:off x="770710" y="4893768"/>
            <a:ext cx="27698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3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搜尋文章與大 </a:t>
            </a:r>
            <a:r>
              <a:rPr lang="en-US" sz="103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H </a:t>
            </a:r>
            <a:r>
              <a:rPr lang="zh-CN" sz="103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短影音，在選手搜尋「賽前準備」與「恢復迷思」時建立專業連結。</a:t>
            </a:r>
            <a:endParaRPr lang="en-US" sz="10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6"/>
          <p:cNvSpPr/>
          <p:nvPr/>
        </p:nvSpPr>
        <p:spPr>
          <a:xfrm>
            <a:off x="4133160" y="2057400"/>
            <a:ext cx="3227040" cy="3611160"/>
          </a:xfrm>
          <a:prstGeom prst="roundRect">
            <a:avLst>
              <a:gd name="adj" fmla="val 1700"/>
            </a:avLst>
          </a:prstGeom>
          <a:solidFill>
            <a:srgbClr val="FFFEFA"/>
          </a:solidFill>
          <a:ln w="10080">
            <a:solidFill>
              <a:srgbClr val="DED2BF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56" name="Shape 17"/>
          <p:cNvSpPr/>
          <p:nvPr/>
        </p:nvSpPr>
        <p:spPr>
          <a:xfrm>
            <a:off x="4133160" y="2057400"/>
            <a:ext cx="3227040" cy="54000"/>
          </a:xfrm>
          <a:prstGeom prst="rect">
            <a:avLst/>
          </a:prstGeom>
          <a:solidFill>
            <a:srgbClr val="B89A42"/>
          </a:solidFill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157" name="Picture 42" descr="p5_finish.jpg"/>
          <p:cNvPicPr/>
          <p:nvPr/>
        </p:nvPicPr>
        <p:blipFill>
          <a:blip r:embed="rId4"/>
          <a:srcRect l="14000" r="14000"/>
          <a:stretch/>
        </p:blipFill>
        <p:spPr>
          <a:xfrm>
            <a:off x="4156680" y="2130000"/>
            <a:ext cx="3180000" cy="19875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ext 18"/>
          <p:cNvSpPr/>
          <p:nvPr/>
        </p:nvSpPr>
        <p:spPr>
          <a:xfrm>
            <a:off x="4352400" y="4446288"/>
            <a:ext cx="27424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1" u="none" strike="noStrike">
                <a:solidFill>
                  <a:srgbClr val="B89A42"/>
                </a:solidFill>
                <a:effectLst/>
                <a:uFillTx/>
                <a:latin typeface="Noto Sans CJK TC"/>
                <a:ea typeface="Noto Sans CJK TC"/>
              </a:rPr>
              <a:t>完賽後｜體驗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9"/>
          <p:cNvSpPr/>
          <p:nvPr/>
        </p:nvSpPr>
        <p:spPr>
          <a:xfrm>
            <a:off x="4352400" y="4674708"/>
            <a:ext cx="27608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現場接觸與即時體感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0"/>
          <p:cNvSpPr/>
          <p:nvPr/>
        </p:nvSpPr>
        <p:spPr>
          <a:xfrm>
            <a:off x="4352400" y="4893768"/>
            <a:ext cx="27698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恢復體驗區 提供展示、互動與預約，將完賽後疲勞轉化為對智能恢復的興趣。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1"/>
          <p:cNvSpPr/>
          <p:nvPr/>
        </p:nvSpPr>
        <p:spPr>
          <a:xfrm>
            <a:off x="7671960" y="2057400"/>
            <a:ext cx="3227040" cy="3611160"/>
          </a:xfrm>
          <a:prstGeom prst="roundRect">
            <a:avLst>
              <a:gd name="adj" fmla="val 1700"/>
            </a:avLst>
          </a:prstGeom>
          <a:solidFill>
            <a:srgbClr val="FFFEFA"/>
          </a:solidFill>
          <a:ln w="10080">
            <a:solidFill>
              <a:srgbClr val="DED2BF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62" name="Shape 22"/>
          <p:cNvSpPr/>
          <p:nvPr/>
        </p:nvSpPr>
        <p:spPr>
          <a:xfrm>
            <a:off x="7671960" y="2057400"/>
            <a:ext cx="3227040" cy="54000"/>
          </a:xfrm>
          <a:prstGeom prst="rect">
            <a:avLst/>
          </a:prstGeom>
          <a:solidFill>
            <a:srgbClr val="C76A43"/>
          </a:solidFill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63" name="Shape 23"/>
          <p:cNvSpPr/>
          <p:nvPr/>
        </p:nvSpPr>
        <p:spPr>
          <a:xfrm>
            <a:off x="7799760" y="2185560"/>
            <a:ext cx="2971080" cy="1325160"/>
          </a:xfrm>
          <a:prstGeom prst="roundRect">
            <a:avLst>
              <a:gd name="adj" fmla="val 4138"/>
            </a:avLst>
          </a:prstGeom>
          <a:solidFill>
            <a:srgbClr val="E8F0ED"/>
          </a:solidFill>
          <a:ln w="12600">
            <a:solidFill>
              <a:srgbClr val="D7E2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164" name="Picture 37" descr="IMG_4173.jpeg"/>
          <p:cNvPicPr/>
          <p:nvPr/>
        </p:nvPicPr>
        <p:blipFill>
          <a:blip r:embed="rId5"/>
          <a:srcRect l="1952" r="1952"/>
          <a:stretch/>
        </p:blipFill>
        <p:spPr>
          <a:xfrm>
            <a:off x="7695480" y="2130000"/>
            <a:ext cx="3180000" cy="19875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24"/>
          <p:cNvSpPr/>
          <p:nvPr/>
        </p:nvSpPr>
        <p:spPr>
          <a:xfrm>
            <a:off x="7891200" y="4446288"/>
            <a:ext cx="274248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00" b="1" u="none" strike="noStrike">
                <a:solidFill>
                  <a:srgbClr val="C76A43"/>
                </a:solidFill>
                <a:effectLst/>
                <a:uFillTx/>
                <a:latin typeface="Noto Sans CJK TC"/>
                <a:ea typeface="Noto Sans CJK TC"/>
              </a:rPr>
              <a:t>賽後延續｜轉換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5"/>
          <p:cNvSpPr/>
          <p:nvPr/>
        </p:nvSpPr>
        <p:spPr>
          <a:xfrm>
            <a:off x="7891200" y="4674708"/>
            <a:ext cx="27608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年度關係與習慣建立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6"/>
          <p:cNvSpPr/>
          <p:nvPr/>
        </p:nvSpPr>
        <p:spPr>
          <a:xfrm>
            <a:off x="7891200" y="4893768"/>
            <a:ext cx="2769840" cy="82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得獎者啟用年度恢復體驗禮遇；一般參賽者透過 </a:t>
            </a:r>
            <a:r>
              <a:rPr lang="en-US" sz="10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LINE</a:t>
            </a:r>
            <a:r>
              <a:rPr lang="zh-CN" sz="10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／電子郵件 與再行銷完成日後預約。</a:t>
            </a:r>
            <a:endParaRPr lang="en-US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7"/>
          <p:cNvSpPr/>
          <p:nvPr/>
        </p:nvSpPr>
        <p:spPr>
          <a:xfrm>
            <a:off x="594360" y="5989320"/>
            <a:ext cx="109720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2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三個時刻共同完成：場內感受、場外記憶、後續轉換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28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C7473"/>
                </a:solidFill>
                <a:effectLst/>
                <a:uFillTx/>
                <a:latin typeface="Inter"/>
                <a:ea typeface="Inter"/>
              </a:rPr>
              <a:t>05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162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1" name="TextBox 163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164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165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4" name="TextBox 166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5" name="Picture 174" descr="dah_slide5_cro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000" y="2130000"/>
            <a:ext cx="3180000" cy="198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43" descr="enhanced_bg_6.jp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Text 0"/>
          <p:cNvSpPr/>
          <p:nvPr/>
        </p:nvSpPr>
        <p:spPr>
          <a:xfrm>
            <a:off x="594360" y="32904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06  ·  </a:t>
            </a:r>
            <a:r>
              <a:rPr lang="zh-CN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活動驗證目標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594360" y="804600"/>
            <a:ext cx="64000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這場活動要驗證什麼？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6"/>
          <p:cNvSpPr/>
          <p:nvPr/>
        </p:nvSpPr>
        <p:spPr>
          <a:xfrm>
            <a:off x="594360" y="1417320"/>
            <a:ext cx="11000160" cy="360"/>
          </a:xfrm>
          <a:prstGeom prst="line">
            <a:avLst/>
          </a:prstGeom>
          <a:ln w="176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594360" y="162756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0" u="none" strike="noStrike">
                <a:solidFill>
                  <a:srgbClr val="5C7473"/>
                </a:solidFill>
                <a:effectLst/>
                <a:highlight>
                  <a:srgbClr val="FFFF00"/>
                </a:highlight>
                <a:uFillTx/>
                <a:latin typeface="Noto Sans CJK TC"/>
                <a:ea typeface="Noto Sans CJK TC"/>
              </a:rPr>
              <a:t>不把目標混成單一曝光數字，而是拆成三層：理解品牌、願意互動、採取下一步。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8"/>
          <p:cNvSpPr/>
          <p:nvPr/>
        </p:nvSpPr>
        <p:spPr>
          <a:xfrm>
            <a:off x="594360" y="2148840"/>
            <a:ext cx="3245400" cy="3382560"/>
          </a:xfrm>
          <a:prstGeom prst="roundRect">
            <a:avLst>
              <a:gd name="adj" fmla="val 1690"/>
            </a:avLst>
          </a:prstGeom>
          <a:solidFill>
            <a:srgbClr val="FFFEFA"/>
          </a:solidFill>
          <a:ln w="10080">
            <a:solidFill>
              <a:srgbClr val="DDCFBA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81" name="Shape 9"/>
          <p:cNvSpPr/>
          <p:nvPr/>
        </p:nvSpPr>
        <p:spPr>
          <a:xfrm>
            <a:off x="594360" y="2148840"/>
            <a:ext cx="3245400" cy="54000"/>
          </a:xfrm>
          <a:prstGeom prst="rect">
            <a:avLst/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182" name="Image 0" descr="preencoded.png"/>
          <p:cNvPicPr/>
          <p:nvPr/>
        </p:nvPicPr>
        <p:blipFill>
          <a:blip r:embed="rId4"/>
          <a:stretch/>
        </p:blipFill>
        <p:spPr>
          <a:xfrm>
            <a:off x="868680" y="248724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Text 10"/>
          <p:cNvSpPr/>
          <p:nvPr/>
        </p:nvSpPr>
        <p:spPr>
          <a:xfrm>
            <a:off x="3017520" y="242316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2DBFC1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1"/>
          <p:cNvSpPr/>
          <p:nvPr/>
        </p:nvSpPr>
        <p:spPr>
          <a:xfrm>
            <a:off x="868680" y="3017520"/>
            <a:ext cx="11880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2DBFC1"/>
                </a:solidFill>
                <a:effectLst/>
                <a:uFillTx/>
                <a:latin typeface="Noto Sans CJK TC"/>
                <a:ea typeface="Noto Sans CJK TC"/>
              </a:rPr>
              <a:t>認知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868680" y="3456360"/>
            <a:ext cx="269676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讓運動者理解 </a:t>
            </a:r>
            <a:r>
              <a:rPr lang="en-US" sz="1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REBOOT </a:t>
            </a:r>
            <a:r>
              <a:rPr lang="zh-CN" sz="1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的角色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868680" y="4096440"/>
            <a:ext cx="269676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6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知道 </a:t>
            </a:r>
            <a:r>
              <a:rPr lang="en-US" sz="106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REBOOT </a:t>
            </a:r>
            <a:r>
              <a:rPr lang="zh-CN" sz="106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是「運動後恢復體驗」，不是一般按摩設備。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850320" y="4901040"/>
            <a:ext cx="2724120" cy="383400"/>
          </a:xfrm>
          <a:prstGeom prst="roundRect">
            <a:avLst>
              <a:gd name="adj" fmla="val 19048"/>
            </a:avLst>
          </a:prstGeom>
          <a:solidFill>
            <a:srgbClr val="E9E4D8"/>
          </a:solidFill>
          <a:ln w="12600">
            <a:solidFill>
              <a:srgbClr val="E9E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88" name="Text 15"/>
          <p:cNvSpPr/>
          <p:nvPr/>
        </p:nvSpPr>
        <p:spPr>
          <a:xfrm>
            <a:off x="923400" y="4919400"/>
            <a:ext cx="257796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要證明：品牌角色是否被理解？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6"/>
          <p:cNvSpPr/>
          <p:nvPr/>
        </p:nvSpPr>
        <p:spPr>
          <a:xfrm>
            <a:off x="4069080" y="2148840"/>
            <a:ext cx="3245400" cy="3382560"/>
          </a:xfrm>
          <a:prstGeom prst="roundRect">
            <a:avLst>
              <a:gd name="adj" fmla="val 1690"/>
            </a:avLst>
          </a:prstGeom>
          <a:solidFill>
            <a:srgbClr val="FFFEFA"/>
          </a:solidFill>
          <a:ln w="10080">
            <a:solidFill>
              <a:srgbClr val="DDCFBA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90" name="Shape 17"/>
          <p:cNvSpPr/>
          <p:nvPr/>
        </p:nvSpPr>
        <p:spPr>
          <a:xfrm>
            <a:off x="4069080" y="2148840"/>
            <a:ext cx="3245400" cy="54000"/>
          </a:xfrm>
          <a:prstGeom prst="rect">
            <a:avLst/>
          </a:prstGeom>
          <a:solidFill>
            <a:srgbClr val="B89A42"/>
          </a:solidFill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191" name="Image 1" descr="preencoded.png"/>
          <p:cNvPicPr/>
          <p:nvPr/>
        </p:nvPicPr>
        <p:blipFill>
          <a:blip r:embed="rId5"/>
          <a:stretch/>
        </p:blipFill>
        <p:spPr>
          <a:xfrm>
            <a:off x="4343400" y="248724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Text 18"/>
          <p:cNvSpPr/>
          <p:nvPr/>
        </p:nvSpPr>
        <p:spPr>
          <a:xfrm>
            <a:off x="6492240" y="242316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B89A42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9"/>
          <p:cNvSpPr/>
          <p:nvPr/>
        </p:nvSpPr>
        <p:spPr>
          <a:xfrm>
            <a:off x="4343400" y="3017520"/>
            <a:ext cx="11880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B89A42"/>
                </a:solidFill>
                <a:effectLst/>
                <a:uFillTx/>
                <a:latin typeface="Noto Sans CJK TC"/>
                <a:ea typeface="Noto Sans CJK TC"/>
              </a:rPr>
              <a:t>體驗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0"/>
          <p:cNvSpPr/>
          <p:nvPr/>
        </p:nvSpPr>
        <p:spPr>
          <a:xfrm>
            <a:off x="4343400" y="3456360"/>
            <a:ext cx="269676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讓現場接觸變成真實互動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1"/>
          <p:cNvSpPr/>
          <p:nvPr/>
        </p:nvSpPr>
        <p:spPr>
          <a:xfrm>
            <a:off x="4343400" y="4096440"/>
            <a:ext cx="269676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6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願意停留、完成問答或動作體驗，並留下可追蹤資料。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2"/>
          <p:cNvSpPr/>
          <p:nvPr/>
        </p:nvSpPr>
        <p:spPr>
          <a:xfrm>
            <a:off x="4325040" y="4901040"/>
            <a:ext cx="2724120" cy="383400"/>
          </a:xfrm>
          <a:prstGeom prst="roundRect">
            <a:avLst>
              <a:gd name="adj" fmla="val 19048"/>
            </a:avLst>
          </a:prstGeom>
          <a:solidFill>
            <a:srgbClr val="E9E4D8"/>
          </a:solidFill>
          <a:ln w="12600">
            <a:solidFill>
              <a:srgbClr val="E9E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97" name="Text 23"/>
          <p:cNvSpPr/>
          <p:nvPr/>
        </p:nvSpPr>
        <p:spPr>
          <a:xfrm>
            <a:off x="4398120" y="4919400"/>
            <a:ext cx="257796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要證明：受眾是否願意停留與參與？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4"/>
          <p:cNvSpPr/>
          <p:nvPr/>
        </p:nvSpPr>
        <p:spPr>
          <a:xfrm>
            <a:off x="7543800" y="2148840"/>
            <a:ext cx="3245400" cy="3382560"/>
          </a:xfrm>
          <a:prstGeom prst="roundRect">
            <a:avLst>
              <a:gd name="adj" fmla="val 1690"/>
            </a:avLst>
          </a:prstGeom>
          <a:solidFill>
            <a:srgbClr val="FFFEFA"/>
          </a:solidFill>
          <a:ln w="10080">
            <a:solidFill>
              <a:srgbClr val="DDCFBA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199" name="Shape 25"/>
          <p:cNvSpPr/>
          <p:nvPr/>
        </p:nvSpPr>
        <p:spPr>
          <a:xfrm>
            <a:off x="7543800" y="2148840"/>
            <a:ext cx="3245400" cy="54000"/>
          </a:xfrm>
          <a:prstGeom prst="rect">
            <a:avLst/>
          </a:prstGeom>
          <a:solidFill>
            <a:srgbClr val="C76A43"/>
          </a:solidFill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200" name="Image 2" descr="preencoded.png"/>
          <p:cNvPicPr/>
          <p:nvPr/>
        </p:nvPicPr>
        <p:blipFill>
          <a:blip r:embed="rId6"/>
          <a:stretch/>
        </p:blipFill>
        <p:spPr>
          <a:xfrm>
            <a:off x="7818120" y="248724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Text 26"/>
          <p:cNvSpPr/>
          <p:nvPr/>
        </p:nvSpPr>
        <p:spPr>
          <a:xfrm>
            <a:off x="9966960" y="2423160"/>
            <a:ext cx="5022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C76A43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7"/>
          <p:cNvSpPr/>
          <p:nvPr/>
        </p:nvSpPr>
        <p:spPr>
          <a:xfrm>
            <a:off x="7818120" y="3017520"/>
            <a:ext cx="118800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C76A43"/>
                </a:solidFill>
                <a:effectLst/>
                <a:uFillTx/>
                <a:latin typeface="Noto Sans CJK TC"/>
                <a:ea typeface="Noto Sans CJK TC"/>
              </a:rPr>
              <a:t>轉換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8"/>
          <p:cNvSpPr/>
          <p:nvPr/>
        </p:nvSpPr>
        <p:spPr>
          <a:xfrm>
            <a:off x="7818120" y="3456360"/>
            <a:ext cx="2696760" cy="47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讓互動者走到 </a:t>
            </a:r>
            <a:r>
              <a:rPr lang="en-US" sz="1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30 </a:t>
            </a:r>
            <a:r>
              <a:rPr lang="zh-CN" sz="1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分鐘預約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29"/>
          <p:cNvSpPr/>
          <p:nvPr/>
        </p:nvSpPr>
        <p:spPr>
          <a:xfrm>
            <a:off x="7818120" y="4096440"/>
            <a:ext cx="269676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6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一般參賽者完成預約；得獎者啟用年度 年度恢復體驗禮遇。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0"/>
          <p:cNvSpPr/>
          <p:nvPr/>
        </p:nvSpPr>
        <p:spPr>
          <a:xfrm>
            <a:off x="7799760" y="4901040"/>
            <a:ext cx="2724120" cy="383400"/>
          </a:xfrm>
          <a:prstGeom prst="roundRect">
            <a:avLst>
              <a:gd name="adj" fmla="val 19048"/>
            </a:avLst>
          </a:prstGeom>
          <a:solidFill>
            <a:srgbClr val="E9E4D8"/>
          </a:solidFill>
          <a:ln w="12600">
            <a:solidFill>
              <a:srgbClr val="E9E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06" name="Text 31"/>
          <p:cNvSpPr/>
          <p:nvPr/>
        </p:nvSpPr>
        <p:spPr>
          <a:xfrm>
            <a:off x="7872840" y="4919400"/>
            <a:ext cx="257796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5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要證明：受眾是否願意採取下一步？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2"/>
          <p:cNvSpPr/>
          <p:nvPr/>
        </p:nvSpPr>
        <p:spPr>
          <a:xfrm>
            <a:off x="594360" y="5970960"/>
            <a:ext cx="109720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800" b="1" u="none" strike="noStrike">
                <a:solidFill>
                  <a:srgbClr val="FF0000"/>
                </a:solidFill>
                <a:effectLst/>
                <a:uFillTx/>
                <a:latin typeface="Noto Sans CJK TC"/>
                <a:ea typeface="Noto Sans CJK TC"/>
              </a:rPr>
              <a:t>這三層目標，也就是後續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Noto Sans CJK TC"/>
                <a:ea typeface="Noto Sans CJK TC"/>
              </a:rPr>
              <a:t>GA4 </a:t>
            </a:r>
            <a:r>
              <a:rPr lang="zh-CN" sz="2800" b="1" u="none" strike="noStrike">
                <a:solidFill>
                  <a:srgbClr val="FF0000"/>
                </a:solidFill>
                <a:effectLst/>
                <a:uFillTx/>
                <a:latin typeface="Noto Sans CJK TC"/>
                <a:ea typeface="Noto Sans CJK TC"/>
              </a:rPr>
              <a:t>事件與 </a:t>
            </a:r>
            <a:r>
              <a:rPr lang="en-US" sz="2800" b="1" u="none" strike="noStrike">
                <a:solidFill>
                  <a:srgbClr val="FF0000"/>
                </a:solidFill>
                <a:effectLst/>
                <a:uFillTx/>
                <a:latin typeface="Noto Sans CJK TC"/>
                <a:ea typeface="Noto Sans CJK TC"/>
              </a:rPr>
              <a:t>KPI </a:t>
            </a:r>
            <a:r>
              <a:rPr lang="zh-CN" sz="2800" b="1" u="none" strike="noStrike">
                <a:solidFill>
                  <a:srgbClr val="FF0000"/>
                </a:solidFill>
                <a:effectLst/>
                <a:uFillTx/>
                <a:latin typeface="Noto Sans CJK TC"/>
                <a:ea typeface="Noto Sans CJK TC"/>
              </a:rPr>
              <a:t>的設計基礎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3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C7473"/>
                </a:solidFill>
                <a:effectLst/>
                <a:uFillTx/>
                <a:latin typeface="Inter"/>
                <a:ea typeface="Inter"/>
              </a:rPr>
              <a:t>06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200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0" name="TextBox 201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202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Rectangle 203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3" name="TextBox 204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36" descr="enhanced_bg_7.jpg"/>
          <p:cNvPicPr/>
          <p:nvPr/>
        </p:nvPicPr>
        <p:blipFill>
          <a:blip r:embed="rId3"/>
          <a:stretch/>
        </p:blipFill>
        <p:spPr>
          <a:xfrm>
            <a:off x="360" y="36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Text 1"/>
          <p:cNvSpPr/>
          <p:nvPr/>
        </p:nvSpPr>
        <p:spPr>
          <a:xfrm>
            <a:off x="594360" y="32904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07  ·  </a:t>
            </a:r>
            <a:r>
              <a:rPr lang="zh-CN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活動核心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6"/>
          <p:cNvSpPr/>
          <p:nvPr/>
        </p:nvSpPr>
        <p:spPr>
          <a:xfrm>
            <a:off x="594360" y="841320"/>
            <a:ext cx="5851440" cy="52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活動核心概念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7"/>
          <p:cNvSpPr/>
          <p:nvPr/>
        </p:nvSpPr>
        <p:spPr>
          <a:xfrm>
            <a:off x="594360" y="1417320"/>
            <a:ext cx="11000160" cy="360"/>
          </a:xfrm>
          <a:prstGeom prst="line">
            <a:avLst/>
          </a:prstGeom>
          <a:ln w="176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18" name="Text 8"/>
          <p:cNvSpPr/>
          <p:nvPr/>
        </p:nvSpPr>
        <p:spPr>
          <a:xfrm>
            <a:off x="594360" y="1719000"/>
            <a:ext cx="6674400" cy="51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900" b="1" u="none" strike="noStrike">
                <a:solidFill>
                  <a:srgbClr val="FF0000"/>
                </a:solidFill>
                <a:effectLst/>
                <a:uFillTx/>
                <a:latin typeface="Noto Sans CJK TC"/>
                <a:ea typeface="Noto Sans CJK TC"/>
              </a:rPr>
              <a:t>完賽後重新開機計畫</a:t>
            </a:r>
            <a:endParaRPr lang="en-US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9"/>
          <p:cNvSpPr/>
          <p:nvPr/>
        </p:nvSpPr>
        <p:spPr>
          <a:xfrm>
            <a:off x="594360" y="2331720"/>
            <a:ext cx="777168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3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你完成了今天的挑戰，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3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接下來，讓恢復成為下一場訓練的開始。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0"/>
          <p:cNvSpPr/>
          <p:nvPr/>
        </p:nvSpPr>
        <p:spPr>
          <a:xfrm>
            <a:off x="594360" y="3346560"/>
            <a:ext cx="43884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400" b="1" u="none" strike="noStrike">
                <a:solidFill>
                  <a:srgbClr val="00B050"/>
                </a:solidFill>
                <a:effectLst/>
                <a:uFillTx/>
                <a:latin typeface="Inter"/>
                <a:ea typeface="DejaVu Sans"/>
              </a:rPr>
              <a:t>全力完賽，更聰明地重新開機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1"/>
          <p:cNvSpPr/>
          <p:nvPr/>
        </p:nvSpPr>
        <p:spPr>
          <a:xfrm>
            <a:off x="685800" y="3977640"/>
            <a:ext cx="3153960" cy="1690920"/>
          </a:xfrm>
          <a:prstGeom prst="roundRect">
            <a:avLst>
              <a:gd name="adj" fmla="val 3243"/>
            </a:avLst>
          </a:prstGeom>
          <a:solidFill>
            <a:srgbClr val="FFFEFA">
              <a:alpha val="92000"/>
            </a:srgbClr>
          </a:solidFill>
          <a:ln w="10080">
            <a:solidFill>
              <a:srgbClr val="DDCFBC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22" name="Shape 12"/>
          <p:cNvSpPr/>
          <p:nvPr/>
        </p:nvSpPr>
        <p:spPr>
          <a:xfrm>
            <a:off x="685800" y="3977640"/>
            <a:ext cx="3153960" cy="54000"/>
          </a:xfrm>
          <a:prstGeom prst="rect">
            <a:avLst/>
          </a:prstGeom>
          <a:solidFill>
            <a:srgbClr val="C76A43"/>
          </a:solidFill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223" name="Image 2" descr="preencoded.png"/>
          <p:cNvPicPr/>
          <p:nvPr/>
        </p:nvPicPr>
        <p:blipFill>
          <a:blip r:embed="rId4"/>
          <a:stretch/>
        </p:blipFill>
        <p:spPr>
          <a:xfrm>
            <a:off x="850320" y="425196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13"/>
          <p:cNvSpPr/>
          <p:nvPr/>
        </p:nvSpPr>
        <p:spPr>
          <a:xfrm>
            <a:off x="1344240" y="4178880"/>
            <a:ext cx="223956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損失厭惡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4"/>
          <p:cNvSpPr/>
          <p:nvPr/>
        </p:nvSpPr>
        <p:spPr>
          <a:xfrm>
            <a:off x="868680" y="4663440"/>
            <a:ext cx="278820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別讓今天的疲勞取消下一次訓練；受眾更在意失去既有的運動節奏。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5"/>
          <p:cNvSpPr/>
          <p:nvPr/>
        </p:nvSpPr>
        <p:spPr>
          <a:xfrm>
            <a:off x="4316040" y="3977640"/>
            <a:ext cx="3153960" cy="1690920"/>
          </a:xfrm>
          <a:prstGeom prst="roundRect">
            <a:avLst>
              <a:gd name="adj" fmla="val 3243"/>
            </a:avLst>
          </a:prstGeom>
          <a:solidFill>
            <a:srgbClr val="FFFEFA">
              <a:alpha val="92000"/>
            </a:srgbClr>
          </a:solidFill>
          <a:ln w="10080">
            <a:solidFill>
              <a:srgbClr val="DDCFBC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27" name="Shape 16"/>
          <p:cNvSpPr/>
          <p:nvPr/>
        </p:nvSpPr>
        <p:spPr>
          <a:xfrm>
            <a:off x="4316040" y="3977640"/>
            <a:ext cx="3153960" cy="54000"/>
          </a:xfrm>
          <a:prstGeom prst="rect">
            <a:avLst/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228" name="Image 3" descr="preencoded.png"/>
          <p:cNvPicPr/>
          <p:nvPr/>
        </p:nvPicPr>
        <p:blipFill>
          <a:blip r:embed="rId5"/>
          <a:stretch/>
        </p:blipFill>
        <p:spPr>
          <a:xfrm>
            <a:off x="4480560" y="425196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 17"/>
          <p:cNvSpPr/>
          <p:nvPr/>
        </p:nvSpPr>
        <p:spPr>
          <a:xfrm>
            <a:off x="4974480" y="4178880"/>
            <a:ext cx="223956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社會認同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8"/>
          <p:cNvSpPr/>
          <p:nvPr/>
        </p:nvSpPr>
        <p:spPr>
          <a:xfrm>
            <a:off x="4498920" y="4663440"/>
            <a:ext cx="278820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透過大 </a:t>
            </a:r>
            <a:r>
              <a:rPr lang="en-US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H </a:t>
            </a:r>
            <a:r>
              <a:rPr lang="zh-CN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的高強度訓練者形象，讓「恢復」看起來值得被安排。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9"/>
          <p:cNvSpPr/>
          <p:nvPr/>
        </p:nvSpPr>
        <p:spPr>
          <a:xfrm>
            <a:off x="7772400" y="3977640"/>
            <a:ext cx="3327840" cy="1690920"/>
          </a:xfrm>
          <a:prstGeom prst="roundRect">
            <a:avLst>
              <a:gd name="adj" fmla="val 3243"/>
            </a:avLst>
          </a:prstGeom>
          <a:solidFill>
            <a:srgbClr val="FFFEFA">
              <a:alpha val="92000"/>
            </a:srgbClr>
          </a:solidFill>
          <a:ln w="10080">
            <a:solidFill>
              <a:srgbClr val="DDCFBC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32" name="Shape 20"/>
          <p:cNvSpPr/>
          <p:nvPr/>
        </p:nvSpPr>
        <p:spPr>
          <a:xfrm>
            <a:off x="7772400" y="3977640"/>
            <a:ext cx="3327840" cy="54000"/>
          </a:xfrm>
          <a:prstGeom prst="rect">
            <a:avLst/>
          </a:prstGeom>
          <a:solidFill>
            <a:srgbClr val="B89A42"/>
          </a:solidFill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233" name="Image 4" descr="preencoded.png"/>
          <p:cNvPicPr/>
          <p:nvPr/>
        </p:nvPicPr>
        <p:blipFill>
          <a:blip r:embed="rId6"/>
          <a:stretch/>
        </p:blipFill>
        <p:spPr>
          <a:xfrm>
            <a:off x="8110800" y="425196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Text 21"/>
          <p:cNvSpPr/>
          <p:nvPr/>
        </p:nvSpPr>
        <p:spPr>
          <a:xfrm>
            <a:off x="8604360" y="4178880"/>
            <a:ext cx="223956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降低行動摩擦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22"/>
          <p:cNvSpPr/>
          <p:nvPr/>
        </p:nvSpPr>
        <p:spPr>
          <a:xfrm>
            <a:off x="8129160" y="4663440"/>
            <a:ext cx="2788200" cy="66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以 </a:t>
            </a:r>
            <a:r>
              <a:rPr lang="en-US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30 </a:t>
            </a:r>
            <a:r>
              <a:rPr lang="zh-CN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分鐘作為明確目標，比直接購買高價設備更容易採取第一步。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23"/>
          <p:cNvSpPr/>
          <p:nvPr/>
        </p:nvSpPr>
        <p:spPr>
          <a:xfrm>
            <a:off x="594360" y="6510600"/>
            <a:ext cx="109720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活動主張不承諾醫療效果；</a:t>
            </a:r>
            <a:r>
              <a:rPr lang="en-US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REBOOT </a:t>
            </a:r>
            <a:r>
              <a:rPr lang="zh-CN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被定位為運動流程中的下一步。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4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C7473"/>
                </a:solidFill>
                <a:effectLst/>
                <a:uFillTx/>
                <a:latin typeface="Inter"/>
                <a:ea typeface="Inter"/>
              </a:rPr>
              <a:t>07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228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9" name="TextBox 229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230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231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2" name="TextBox 232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Picture 27" descr="bg8.jp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Text 0"/>
          <p:cNvSpPr/>
          <p:nvPr/>
        </p:nvSpPr>
        <p:spPr>
          <a:xfrm>
            <a:off x="594360" y="32904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7AC58"/>
                </a:solidFill>
                <a:effectLst/>
                <a:uFillTx/>
                <a:latin typeface="Inter"/>
                <a:ea typeface="DejaVu Sans"/>
              </a:rPr>
              <a:t>08  ·  </a:t>
            </a:r>
            <a:r>
              <a:rPr lang="zh-CN" sz="1050" b="1" u="none" strike="noStrike">
                <a:solidFill>
                  <a:srgbClr val="C7AC58"/>
                </a:solidFill>
                <a:effectLst/>
                <a:uFillTx/>
                <a:latin typeface="Inter"/>
                <a:ea typeface="DejaVu Sans"/>
              </a:rPr>
              <a:t>得獎者策略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5"/>
          <p:cNvSpPr/>
          <p:nvPr/>
        </p:nvSpPr>
        <p:spPr>
          <a:xfrm>
            <a:off x="594360" y="868680"/>
            <a:ext cx="3839760" cy="105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得獎者年度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3000" b="1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體驗禮遇方案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6"/>
          <p:cNvSpPr/>
          <p:nvPr/>
        </p:nvSpPr>
        <p:spPr>
          <a:xfrm>
            <a:off x="594360" y="2030040"/>
            <a:ext cx="36568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2DBFC1"/>
                </a:solidFill>
                <a:effectLst/>
                <a:uFillTx/>
                <a:latin typeface="Inter"/>
                <a:ea typeface="DejaVu Sans"/>
              </a:rPr>
              <a:t>REBOOT </a:t>
            </a:r>
            <a:r>
              <a:rPr lang="zh-CN" sz="950" b="1" u="none" strike="noStrike">
                <a:solidFill>
                  <a:srgbClr val="2DBFC1"/>
                </a:solidFill>
                <a:effectLst/>
                <a:uFillTx/>
                <a:latin typeface="Inter"/>
                <a:ea typeface="DejaVu Sans"/>
              </a:rPr>
              <a:t>得獎者年度恢復體驗禮遇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7"/>
          <p:cNvSpPr/>
          <p:nvPr/>
        </p:nvSpPr>
        <p:spPr>
          <a:xfrm>
            <a:off x="594360" y="2423160"/>
            <a:ext cx="4342680" cy="2833920"/>
          </a:xfrm>
          <a:prstGeom prst="roundRect">
            <a:avLst>
              <a:gd name="adj" fmla="val 1613"/>
            </a:avLst>
          </a:prstGeom>
          <a:solidFill>
            <a:srgbClr val="0E3436">
              <a:alpha val="86000"/>
            </a:srgbClr>
          </a:solidFill>
          <a:ln w="14040">
            <a:solidFill>
              <a:srgbClr val="B89A42">
                <a:alpha val="88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48" name="Text 8"/>
          <p:cNvSpPr/>
          <p:nvPr/>
        </p:nvSpPr>
        <p:spPr>
          <a:xfrm>
            <a:off x="914400" y="2788920"/>
            <a:ext cx="3656880" cy="84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讓贏家的榮耀，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延續在每一次的恢復中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9"/>
          <p:cNvSpPr/>
          <p:nvPr/>
        </p:nvSpPr>
        <p:spPr>
          <a:xfrm>
            <a:off x="914400" y="3931920"/>
            <a:ext cx="3611160" cy="58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C7AC58"/>
                </a:solidFill>
                <a:effectLst/>
                <a:uFillTx/>
                <a:latin typeface="Noto Sans CJK TC"/>
                <a:ea typeface="Noto Sans CJK TC"/>
              </a:rPr>
              <a:t>年度 </a:t>
            </a:r>
            <a:r>
              <a:rPr lang="en-US" sz="1350" b="1" u="none" strike="noStrike">
                <a:solidFill>
                  <a:srgbClr val="C7AC58"/>
                </a:solidFill>
                <a:effectLst/>
                <a:uFillTx/>
                <a:latin typeface="Noto Sans CJK TC"/>
                <a:ea typeface="Noto Sans CJK TC"/>
              </a:rPr>
              <a:t>12 </a:t>
            </a:r>
            <a:r>
              <a:rPr lang="zh-CN" sz="1350" b="1" u="none" strike="noStrike">
                <a:solidFill>
                  <a:srgbClr val="C7AC58"/>
                </a:solidFill>
                <a:effectLst/>
                <a:uFillTx/>
                <a:latin typeface="Noto Sans CJK TC"/>
                <a:ea typeface="Noto Sans CJK TC"/>
              </a:rPr>
              <a:t>次智能恢復體驗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50" b="1" u="none" strike="noStrike">
                <a:solidFill>
                  <a:srgbClr val="C7AC58"/>
                </a:solidFill>
                <a:effectLst/>
                <a:uFillTx/>
                <a:latin typeface="Noto Sans CJK TC"/>
                <a:ea typeface="Noto Sans CJK TC"/>
              </a:rPr>
              <a:t>每月最多 </a:t>
            </a:r>
            <a:r>
              <a:rPr lang="en-US" sz="1350" b="1" u="none" strike="noStrike">
                <a:solidFill>
                  <a:srgbClr val="C7AC58"/>
                </a:solidFill>
                <a:effectLst/>
                <a:uFillTx/>
                <a:latin typeface="Noto Sans CJK TC"/>
                <a:ea typeface="Noto Sans CJK TC"/>
              </a:rPr>
              <a:t>1 </a:t>
            </a:r>
            <a:r>
              <a:rPr lang="zh-CN" sz="1350" b="1" u="none" strike="noStrike">
                <a:solidFill>
                  <a:srgbClr val="C7AC58"/>
                </a:solidFill>
                <a:effectLst/>
                <a:uFillTx/>
                <a:latin typeface="Noto Sans CJK TC"/>
                <a:ea typeface="Noto Sans CJK TC"/>
              </a:rPr>
              <a:t>次｜啟動後 </a:t>
            </a:r>
            <a:r>
              <a:rPr lang="en-US" sz="1350" b="1" u="none" strike="noStrike">
                <a:solidFill>
                  <a:srgbClr val="C7AC58"/>
                </a:solidFill>
                <a:effectLst/>
                <a:uFillTx/>
                <a:latin typeface="Noto Sans CJK TC"/>
                <a:ea typeface="Noto Sans CJK TC"/>
              </a:rPr>
              <a:t>12 </a:t>
            </a:r>
            <a:r>
              <a:rPr lang="zh-CN" sz="1350" b="1" u="none" strike="noStrike">
                <a:solidFill>
                  <a:srgbClr val="C7AC58"/>
                </a:solidFill>
                <a:effectLst/>
                <a:uFillTx/>
                <a:latin typeface="Noto Sans CJK TC"/>
                <a:ea typeface="Noto Sans CJK TC"/>
              </a:rPr>
              <a:t>個月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0"/>
          <p:cNvSpPr/>
          <p:nvPr/>
        </p:nvSpPr>
        <p:spPr>
          <a:xfrm>
            <a:off x="914400" y="4690800"/>
            <a:ext cx="3611160" cy="346680"/>
          </a:xfrm>
          <a:prstGeom prst="roundRect">
            <a:avLst>
              <a:gd name="adj" fmla="val 21053"/>
            </a:avLst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51" name="Text 11"/>
          <p:cNvSpPr/>
          <p:nvPr/>
        </p:nvSpPr>
        <p:spPr>
          <a:xfrm>
            <a:off x="987480" y="4709160"/>
            <a:ext cx="346500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官方確認適用組別第一至第三名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2"/>
          <p:cNvSpPr/>
          <p:nvPr/>
        </p:nvSpPr>
        <p:spPr>
          <a:xfrm>
            <a:off x="5486400" y="1051560"/>
            <a:ext cx="246816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C7AC58"/>
                </a:solidFill>
                <a:effectLst/>
                <a:uFillTx/>
                <a:latin typeface="Noto Sans CJK TC"/>
                <a:ea typeface="Noto Sans CJK TC"/>
              </a:rPr>
              <a:t>雙路徑預約流程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3"/>
          <p:cNvSpPr/>
          <p:nvPr/>
        </p:nvSpPr>
        <p:spPr>
          <a:xfrm>
            <a:off x="5570280" y="1975320"/>
            <a:ext cx="5988600" cy="1690920"/>
          </a:xfrm>
          <a:prstGeom prst="roundRect">
            <a:avLst>
              <a:gd name="adj" fmla="val 3243"/>
            </a:avLst>
          </a:prstGeom>
          <a:solidFill>
            <a:srgbClr val="163F41">
              <a:alpha val="90000"/>
            </a:srgbClr>
          </a:solidFill>
          <a:ln w="1008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254" name="Image 2" descr="preencoded.png"/>
          <p:cNvPicPr/>
          <p:nvPr/>
        </p:nvPicPr>
        <p:blipFill>
          <a:blip r:embed="rId4"/>
          <a:stretch/>
        </p:blipFill>
        <p:spPr>
          <a:xfrm>
            <a:off x="5817240" y="234108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14"/>
          <p:cNvSpPr/>
          <p:nvPr/>
        </p:nvSpPr>
        <p:spPr>
          <a:xfrm>
            <a:off x="6411600" y="2176560"/>
            <a:ext cx="4525560" cy="24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2DBFC1"/>
                </a:solidFill>
                <a:effectLst/>
                <a:uFillTx/>
                <a:latin typeface="Noto Sans CJK TC"/>
                <a:ea typeface="DejaVu Sans"/>
              </a:rPr>
              <a:t>路徑 </a:t>
            </a:r>
            <a:r>
              <a:rPr lang="en-US" sz="1050" b="1" u="none" strike="noStrike">
                <a:solidFill>
                  <a:srgbClr val="2DBFC1"/>
                </a:solidFill>
                <a:effectLst/>
                <a:uFillTx/>
                <a:latin typeface="Noto Sans CJK TC"/>
                <a:ea typeface="DejaVu Sans"/>
              </a:rPr>
              <a:t>A</a:t>
            </a:r>
            <a:r>
              <a:rPr lang="zh-CN" sz="1050" b="1" u="none" strike="noStrike">
                <a:solidFill>
                  <a:srgbClr val="2DBFC1"/>
                </a:solidFill>
                <a:effectLst/>
                <a:uFillTx/>
                <a:latin typeface="Noto Sans CJK TC"/>
                <a:ea typeface="DejaVu Sans"/>
              </a:rPr>
              <a:t>｜現場優先啟用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5"/>
          <p:cNvSpPr/>
          <p:nvPr/>
        </p:nvSpPr>
        <p:spPr>
          <a:xfrm>
            <a:off x="6411600" y="2532960"/>
            <a:ext cx="466272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20" b="0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頒獎後至 </a:t>
            </a:r>
            <a:r>
              <a:rPr lang="en-US" sz="1120" b="0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REBOOT </a:t>
            </a:r>
            <a:r>
              <a:rPr lang="zh-CN" sz="1120" b="0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服務台報到；若場地容量、選手狀態與安全條件允許，可在整理後安排 </a:t>
            </a:r>
            <a:r>
              <a:rPr lang="en-US" sz="1120" b="0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30 </a:t>
            </a:r>
            <a:r>
              <a:rPr lang="zh-CN" sz="1120" b="0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分鐘體驗。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16"/>
          <p:cNvSpPr/>
          <p:nvPr/>
        </p:nvSpPr>
        <p:spPr>
          <a:xfrm>
            <a:off x="5570280" y="3987000"/>
            <a:ext cx="5988600" cy="1690920"/>
          </a:xfrm>
          <a:prstGeom prst="roundRect">
            <a:avLst>
              <a:gd name="adj" fmla="val 3243"/>
            </a:avLst>
          </a:prstGeom>
          <a:solidFill>
            <a:srgbClr val="163F41">
              <a:alpha val="90000"/>
            </a:srgbClr>
          </a:solidFill>
          <a:ln w="10080">
            <a:solidFill>
              <a:srgbClr val="C7AC5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258" name="Image 3" descr="preencoded.png"/>
          <p:cNvPicPr/>
          <p:nvPr/>
        </p:nvPicPr>
        <p:blipFill>
          <a:blip r:embed="rId5"/>
          <a:stretch/>
        </p:blipFill>
        <p:spPr>
          <a:xfrm>
            <a:off x="5817240" y="4361760"/>
            <a:ext cx="438120" cy="43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Text 17"/>
          <p:cNvSpPr/>
          <p:nvPr/>
        </p:nvSpPr>
        <p:spPr>
          <a:xfrm>
            <a:off x="6411600" y="4188240"/>
            <a:ext cx="4525560" cy="246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50" b="1" u="none" strike="noStrike">
                <a:solidFill>
                  <a:srgbClr val="C7AC58"/>
                </a:solidFill>
                <a:effectLst/>
                <a:uFillTx/>
                <a:latin typeface="Noto Sans CJK TC"/>
                <a:ea typeface="DejaVu Sans"/>
              </a:rPr>
              <a:t>路徑 </a:t>
            </a:r>
            <a:r>
              <a:rPr lang="en-US" sz="1050" b="1" u="none" strike="noStrike">
                <a:solidFill>
                  <a:srgbClr val="C7AC58"/>
                </a:solidFill>
                <a:effectLst/>
                <a:uFillTx/>
                <a:latin typeface="Noto Sans CJK TC"/>
                <a:ea typeface="DejaVu Sans"/>
              </a:rPr>
              <a:t>B</a:t>
            </a:r>
            <a:r>
              <a:rPr lang="zh-CN" sz="1050" b="1" u="none" strike="noStrike">
                <a:solidFill>
                  <a:srgbClr val="C7AC58"/>
                </a:solidFill>
                <a:effectLst/>
                <a:uFillTx/>
                <a:latin typeface="Noto Sans CJK TC"/>
                <a:ea typeface="DejaVu Sans"/>
              </a:rPr>
              <a:t>｜日後預約體驗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8"/>
          <p:cNvSpPr/>
          <p:nvPr/>
        </p:nvSpPr>
        <p:spPr>
          <a:xfrm>
            <a:off x="6411600" y="4544640"/>
            <a:ext cx="4662720" cy="685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20" b="0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掃描專屬 </a:t>
            </a:r>
            <a:r>
              <a:rPr lang="en-US" sz="1120" b="0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QR </a:t>
            </a:r>
            <a:r>
              <a:rPr lang="zh-CN" sz="1120" b="0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碼 領取年度恢復體驗禮遇，透過 </a:t>
            </a:r>
            <a:r>
              <a:rPr lang="en-US" sz="1120" b="0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LINE</a:t>
            </a:r>
            <a:r>
              <a:rPr lang="zh-CN" sz="1120" b="0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／電子郵件 選擇日後日期與指定合作場域。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9"/>
          <p:cNvSpPr/>
          <p:nvPr/>
        </p:nvSpPr>
        <p:spPr>
          <a:xfrm>
            <a:off x="594360" y="6291000"/>
            <a:ext cx="10972080" cy="20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90" b="0" u="none" strike="noStrike">
                <a:solidFill>
                  <a:srgbClr val="D4E1DE"/>
                </a:solidFill>
                <a:effectLst/>
                <a:uFillTx/>
                <a:latin typeface="Noto Sans CJK TC"/>
                <a:ea typeface="Noto Sans CJK TC"/>
              </a:rPr>
              <a:t>實際得獎人數、體驗時段、電力、清潔、隱私與安全規範，依主辦方最終公告與場地核准安排。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20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8E5E2"/>
                </a:solidFill>
                <a:effectLst/>
                <a:uFillTx/>
                <a:latin typeface="Inter"/>
                <a:ea typeface="Inter"/>
              </a:rPr>
              <a:t>08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Rectangle 252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4" name="TextBox 253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254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255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7" name="TextBox 256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Picture 44" descr="p9_bg_stronger.jpg"/>
          <p:cNvPicPr/>
          <p:nvPr/>
        </p:nvPicPr>
        <p:blipFill>
          <a:blip r:embed="rId3"/>
          <a:stretch/>
        </p:blipFill>
        <p:spPr>
          <a:xfrm>
            <a:off x="0" y="1450000"/>
            <a:ext cx="12191400" cy="255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Text 0"/>
          <p:cNvSpPr/>
          <p:nvPr/>
        </p:nvSpPr>
        <p:spPr>
          <a:xfrm>
            <a:off x="594360" y="32904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09  ·  </a:t>
            </a:r>
            <a:r>
              <a:rPr lang="zh-CN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現場體驗設計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5"/>
          <p:cNvSpPr/>
          <p:nvPr/>
        </p:nvSpPr>
        <p:spPr>
          <a:xfrm>
            <a:off x="594360" y="804600"/>
            <a:ext cx="713160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REBOOT </a:t>
            </a:r>
            <a:r>
              <a:rPr lang="zh-CN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恢復體驗區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6"/>
          <p:cNvSpPr/>
          <p:nvPr/>
        </p:nvSpPr>
        <p:spPr>
          <a:xfrm>
            <a:off x="594360" y="1417320"/>
            <a:ext cx="11000160" cy="360"/>
          </a:xfrm>
          <a:prstGeom prst="line">
            <a:avLst/>
          </a:prstGeom>
          <a:ln w="176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72" name="Text 27"/>
          <p:cNvSpPr/>
          <p:nvPr/>
        </p:nvSpPr>
        <p:spPr>
          <a:xfrm>
            <a:off x="594360" y="6510600"/>
            <a:ext cx="109720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現場不是單純擺機器，而是一條讓人理解、互動、留下資料並完成預約的短路徑。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8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C7473"/>
                </a:solidFill>
                <a:effectLst/>
                <a:uFillTx/>
                <a:latin typeface="Inter"/>
                <a:ea typeface="Inter"/>
              </a:rPr>
              <a:t>09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4" name="Picture 45" descr="s9_left.jpg"/>
          <p:cNvPicPr/>
          <p:nvPr/>
        </p:nvPicPr>
        <p:blipFill>
          <a:blip r:embed="rId4"/>
          <a:stretch/>
        </p:blipFill>
        <p:spPr>
          <a:xfrm>
            <a:off x="612720" y="1450000"/>
            <a:ext cx="5375880" cy="255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Rectangle 46"/>
          <p:cNvSpPr/>
          <p:nvPr/>
        </p:nvSpPr>
        <p:spPr>
          <a:xfrm>
            <a:off x="594360" y="1572840"/>
            <a:ext cx="5375880" cy="2266920"/>
          </a:xfrm>
          <a:prstGeom prst="rect">
            <a:avLst/>
          </a:prstGeom>
          <a:noFill/>
          <a:ln w="15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276" name="Picture 47" descr="s9_right.jpg"/>
          <p:cNvPicPr/>
          <p:nvPr/>
        </p:nvPicPr>
        <p:blipFill>
          <a:blip r:embed="rId5"/>
          <a:stretch/>
        </p:blipFill>
        <p:spPr>
          <a:xfrm>
            <a:off x="6236280" y="1450000"/>
            <a:ext cx="5394240" cy="255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Rectangle 48"/>
          <p:cNvSpPr/>
          <p:nvPr/>
        </p:nvSpPr>
        <p:spPr>
          <a:xfrm>
            <a:off x="6217920" y="1572840"/>
            <a:ext cx="5375880" cy="2266920"/>
          </a:xfrm>
          <a:prstGeom prst="rect">
            <a:avLst/>
          </a:prstGeom>
          <a:noFill/>
          <a:ln w="1512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78" name="Rounded Rectangle 49"/>
          <p:cNvSpPr/>
          <p:nvPr/>
        </p:nvSpPr>
        <p:spPr>
          <a:xfrm>
            <a:off x="804600" y="1755720"/>
            <a:ext cx="2331000" cy="346680"/>
          </a:xfrm>
          <a:prstGeom prst="roundRect">
            <a:avLst>
              <a:gd name="adj" fmla="val 16667"/>
            </a:avLst>
          </a:prstGeom>
          <a:solidFill>
            <a:srgbClr val="D0A430"/>
          </a:solidFill>
          <a:ln w="6480">
            <a:solidFill>
              <a:srgbClr val="D0A4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0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5–8 </a:t>
            </a:r>
            <a:r>
              <a:rPr lang="zh-CN" sz="130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分鐘體驗路徑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50"/>
          <p:cNvSpPr/>
          <p:nvPr/>
        </p:nvSpPr>
        <p:spPr>
          <a:xfrm>
            <a:off x="612720" y="3726840"/>
            <a:ext cx="10999440" cy="401760"/>
          </a:xfrm>
          <a:prstGeom prst="rect">
            <a:avLst/>
          </a:prstGeom>
          <a:solidFill>
            <a:srgbClr val="082B2E"/>
          </a:solidFill>
          <a:ln w="6480">
            <a:solidFill>
              <a:srgbClr val="082B2E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3080" tIns="45000" rIns="7308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看見賽後狀態  →  理解恢復流程  →  看見艙體體驗  →  掃碼留下資料  →  預約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30 </a:t>
            </a:r>
            <a:r>
              <a:rPr lang="zh-CN" sz="13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分鐘體驗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51"/>
          <p:cNvSpPr/>
          <p:nvPr/>
        </p:nvSpPr>
        <p:spPr>
          <a:xfrm>
            <a:off x="594360" y="4234800"/>
            <a:ext cx="2577960" cy="148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CD6C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81" name="Rectangle 52"/>
          <p:cNvSpPr/>
          <p:nvPr/>
        </p:nvSpPr>
        <p:spPr>
          <a:xfrm>
            <a:off x="594360" y="4234800"/>
            <a:ext cx="2577960" cy="54000"/>
          </a:xfrm>
          <a:prstGeom prst="rect">
            <a:avLst/>
          </a:prstGeom>
          <a:solidFill>
            <a:srgbClr val="D0A430"/>
          </a:solidFill>
          <a:ln w="6480">
            <a:solidFill>
              <a:srgbClr val="D0A43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282" name="Picture 75" descr="icon_box.png"/>
          <p:cNvPicPr/>
          <p:nvPr/>
        </p:nvPicPr>
        <p:blipFill>
          <a:blip r:embed="rId6"/>
          <a:stretch/>
        </p:blipFill>
        <p:spPr>
          <a:xfrm>
            <a:off x="827640" y="4377000"/>
            <a:ext cx="310320" cy="31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TextBox 54"/>
          <p:cNvSpPr/>
          <p:nvPr/>
        </p:nvSpPr>
        <p:spPr>
          <a:xfrm>
            <a:off x="1089000" y="4390680"/>
            <a:ext cx="151344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zh-CN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區域 </a:t>
            </a:r>
            <a:r>
              <a:rPr lang="en-US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A</a:t>
            </a:r>
            <a:r>
              <a:rPr lang="zh-CN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｜艙體展示區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55"/>
          <p:cNvSpPr/>
          <p:nvPr/>
        </p:nvSpPr>
        <p:spPr>
          <a:xfrm>
            <a:off x="804600" y="4753560"/>
            <a:ext cx="2117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zh-CN" sz="1500" b="0" u="none" strike="noStrike">
                <a:solidFill>
                  <a:srgbClr val="586A6A"/>
                </a:solidFill>
                <a:effectLst/>
                <a:uFillTx/>
                <a:latin typeface="Arial"/>
                <a:ea typeface="DejaVu Sans"/>
              </a:rPr>
              <a:t>展示躺床式艙體、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CN" sz="1500" b="0" u="none" strike="noStrike">
                <a:solidFill>
                  <a:srgbClr val="586A6A"/>
                </a:solidFill>
                <a:effectLst/>
                <a:uFillTx/>
                <a:latin typeface="Arial"/>
                <a:ea typeface="DejaVu Sans"/>
              </a:rPr>
              <a:t>紅光陣列與操作流程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56"/>
          <p:cNvSpPr/>
          <p:nvPr/>
        </p:nvSpPr>
        <p:spPr>
          <a:xfrm>
            <a:off x="3401640" y="4234800"/>
            <a:ext cx="2577960" cy="148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CD6C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86" name="Rectangle 57"/>
          <p:cNvSpPr/>
          <p:nvPr/>
        </p:nvSpPr>
        <p:spPr>
          <a:xfrm>
            <a:off x="3401640" y="4234800"/>
            <a:ext cx="2577960" cy="54000"/>
          </a:xfrm>
          <a:prstGeom prst="rect">
            <a:avLst/>
          </a:prstGeom>
          <a:solidFill>
            <a:srgbClr val="3ABEBE"/>
          </a:solidFill>
          <a:ln w="6480">
            <a:solidFill>
              <a:srgbClr val="3ABEBE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287" name="Picture 76" descr="icon_gauge.png"/>
          <p:cNvPicPr/>
          <p:nvPr/>
        </p:nvPicPr>
        <p:blipFill>
          <a:blip r:embed="rId7"/>
          <a:stretch/>
        </p:blipFill>
        <p:spPr>
          <a:xfrm>
            <a:off x="3611880" y="4377000"/>
            <a:ext cx="310320" cy="31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TextBox 59"/>
          <p:cNvSpPr/>
          <p:nvPr/>
        </p:nvSpPr>
        <p:spPr>
          <a:xfrm>
            <a:off x="3922560" y="4397160"/>
            <a:ext cx="151308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zh-CN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區域 </a:t>
            </a:r>
            <a:r>
              <a:rPr lang="en-US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B</a:t>
            </a:r>
            <a:r>
              <a:rPr lang="zh-CN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｜恢復互動</a:t>
            </a:r>
            <a:r>
              <a:rPr lang="zh-TW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區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60"/>
          <p:cNvSpPr/>
          <p:nvPr/>
        </p:nvSpPr>
        <p:spPr>
          <a:xfrm>
            <a:off x="3611880" y="4746720"/>
            <a:ext cx="209628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500" b="0" u="none" strike="noStrike">
                <a:solidFill>
                  <a:srgbClr val="586A6A"/>
                </a:solidFill>
                <a:effectLst/>
                <a:uFillTx/>
                <a:latin typeface="Arial"/>
                <a:ea typeface="DejaVu Sans"/>
              </a:rPr>
              <a:t>60 </a:t>
            </a:r>
            <a:r>
              <a:rPr lang="zh-CN" sz="1500" b="0" u="none" strike="noStrike">
                <a:solidFill>
                  <a:srgbClr val="586A6A"/>
                </a:solidFill>
                <a:effectLst/>
                <a:uFillTx/>
                <a:latin typeface="Arial"/>
                <a:ea typeface="DejaVu Sans"/>
              </a:rPr>
              <a:t>秒問答生成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CN" sz="1500" b="0" u="none" strike="noStrike">
                <a:solidFill>
                  <a:srgbClr val="586A6A"/>
                </a:solidFill>
                <a:effectLst/>
                <a:uFillTx/>
                <a:latin typeface="Arial"/>
                <a:ea typeface="DejaVu Sans"/>
              </a:rPr>
              <a:t>「今日恢復</a:t>
            </a:r>
            <a:r>
              <a:rPr lang="zh-TW" sz="1500" b="0" u="none" strike="noStrike">
                <a:solidFill>
                  <a:srgbClr val="586A6A"/>
                </a:solidFill>
                <a:effectLst/>
                <a:uFillTx/>
                <a:latin typeface="Arial"/>
                <a:ea typeface="DejaVu Sans"/>
              </a:rPr>
              <a:t>狀態</a:t>
            </a:r>
            <a:r>
              <a:rPr lang="zh-CN" sz="1500" b="0" u="none" strike="noStrike">
                <a:solidFill>
                  <a:srgbClr val="586A6A"/>
                </a:solidFill>
                <a:effectLst/>
                <a:uFillTx/>
                <a:latin typeface="Arial"/>
                <a:ea typeface="DejaVu Sans"/>
              </a:rPr>
              <a:t>檢視卡」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ounded Rectangle 61"/>
          <p:cNvSpPr/>
          <p:nvPr/>
        </p:nvSpPr>
        <p:spPr>
          <a:xfrm>
            <a:off x="6208920" y="4234800"/>
            <a:ext cx="2577960" cy="148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CD6C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91" name="Rectangle 62"/>
          <p:cNvSpPr/>
          <p:nvPr/>
        </p:nvSpPr>
        <p:spPr>
          <a:xfrm>
            <a:off x="6208920" y="4234800"/>
            <a:ext cx="2577960" cy="54000"/>
          </a:xfrm>
          <a:prstGeom prst="rect">
            <a:avLst/>
          </a:prstGeom>
          <a:solidFill>
            <a:srgbClr val="C76942"/>
          </a:solidFill>
          <a:ln w="6480">
            <a:solidFill>
              <a:srgbClr val="C7694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292" name="Picture 77" descr="icon_runner.png"/>
          <p:cNvPicPr/>
          <p:nvPr/>
        </p:nvPicPr>
        <p:blipFill>
          <a:blip r:embed="rId8"/>
          <a:stretch/>
        </p:blipFill>
        <p:spPr>
          <a:xfrm>
            <a:off x="6373440" y="4436040"/>
            <a:ext cx="310320" cy="31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TextBox 64"/>
          <p:cNvSpPr/>
          <p:nvPr/>
        </p:nvSpPr>
        <p:spPr>
          <a:xfrm>
            <a:off x="6606000" y="4449720"/>
            <a:ext cx="151344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zh-CN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區域 </a:t>
            </a:r>
            <a:r>
              <a:rPr lang="en-US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C</a:t>
            </a:r>
            <a:r>
              <a:rPr lang="zh-CN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｜</a:t>
            </a:r>
            <a:r>
              <a:rPr lang="zh-TW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挑戰</a:t>
            </a:r>
            <a:r>
              <a:rPr lang="zh-CN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體驗</a:t>
            </a:r>
            <a:r>
              <a:rPr lang="zh-TW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區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65"/>
          <p:cNvSpPr/>
          <p:nvPr/>
        </p:nvSpPr>
        <p:spPr>
          <a:xfrm>
            <a:off x="6286680" y="4829160"/>
            <a:ext cx="2477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zh-CN" sz="1500" b="0" u="none" strike="noStrike">
                <a:solidFill>
                  <a:srgbClr val="586A6A"/>
                </a:solidFill>
                <a:effectLst/>
                <a:uFillTx/>
                <a:latin typeface="Arial"/>
                <a:ea typeface="DejaVu Sans"/>
              </a:rPr>
              <a:t>低負荷短時間動作＋呼吸引導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CN" sz="1500" b="0" u="none" strike="noStrike">
                <a:solidFill>
                  <a:srgbClr val="586A6A"/>
                </a:solidFill>
                <a:effectLst/>
                <a:uFillTx/>
                <a:latin typeface="Arial"/>
                <a:ea typeface="DejaVu Sans"/>
              </a:rPr>
              <a:t>示範「挑戰後的平靜」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ounded Rectangle 66"/>
          <p:cNvSpPr/>
          <p:nvPr/>
        </p:nvSpPr>
        <p:spPr>
          <a:xfrm>
            <a:off x="9015840" y="4234800"/>
            <a:ext cx="2577960" cy="148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480">
            <a:solidFill>
              <a:srgbClr val="DCD6CA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296" name="Rectangle 67"/>
          <p:cNvSpPr/>
          <p:nvPr/>
        </p:nvSpPr>
        <p:spPr>
          <a:xfrm>
            <a:off x="9015840" y="4234800"/>
            <a:ext cx="2577960" cy="54000"/>
          </a:xfrm>
          <a:prstGeom prst="rect">
            <a:avLst/>
          </a:prstGeom>
          <a:solidFill>
            <a:srgbClr val="76B8B3"/>
          </a:solidFill>
          <a:ln w="6480">
            <a:solidFill>
              <a:srgbClr val="76B8B3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297" name="Picture 78" descr="icon_qr.png"/>
          <p:cNvPicPr/>
          <p:nvPr/>
        </p:nvPicPr>
        <p:blipFill>
          <a:blip r:embed="rId9"/>
          <a:stretch/>
        </p:blipFill>
        <p:spPr>
          <a:xfrm>
            <a:off x="9180720" y="4436040"/>
            <a:ext cx="310320" cy="31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TextBox 69"/>
          <p:cNvSpPr/>
          <p:nvPr/>
        </p:nvSpPr>
        <p:spPr>
          <a:xfrm>
            <a:off x="9587520" y="4450800"/>
            <a:ext cx="1513440" cy="280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zh-CN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區域 </a:t>
            </a:r>
            <a:r>
              <a:rPr lang="en-US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D</a:t>
            </a:r>
            <a:r>
              <a:rPr lang="zh-CN" sz="1250" b="1" u="none" strike="noStrike">
                <a:solidFill>
                  <a:srgbClr val="082B2E"/>
                </a:solidFill>
                <a:effectLst/>
                <a:uFillTx/>
                <a:latin typeface="Arial"/>
                <a:ea typeface="DejaVu Sans"/>
              </a:rPr>
              <a:t>｜預約服務台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70"/>
          <p:cNvSpPr/>
          <p:nvPr/>
        </p:nvSpPr>
        <p:spPr>
          <a:xfrm>
            <a:off x="9180720" y="4766520"/>
            <a:ext cx="2286720" cy="7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45000" rIns="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zh-CN" sz="1500" b="0" u="none" strike="noStrike">
                <a:solidFill>
                  <a:srgbClr val="586A6A"/>
                </a:solidFill>
                <a:effectLst/>
                <a:uFillTx/>
                <a:latin typeface="Arial"/>
                <a:ea typeface="DejaVu Sans"/>
              </a:rPr>
              <a:t>得獎者年度禮遇啟用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CN" sz="1500" b="0" u="none" strike="noStrike">
                <a:solidFill>
                  <a:srgbClr val="586A6A"/>
                </a:solidFill>
                <a:effectLst/>
                <a:uFillTx/>
                <a:latin typeface="Arial"/>
                <a:ea typeface="DejaVu Sans"/>
              </a:rPr>
              <a:t>與一般參賽者預約；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zh-CN" sz="1500" b="0" u="none" strike="noStrike">
                <a:solidFill>
                  <a:srgbClr val="586A6A"/>
                </a:solidFill>
                <a:effectLst/>
                <a:uFillTx/>
                <a:latin typeface="Arial"/>
                <a:ea typeface="DejaVu Sans"/>
              </a:rPr>
              <a:t>把現場熱度轉為可追蹤名單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288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1" name="TextBox 289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290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291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4" name="TextBox 292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Picture 51" descr="enhanced_bg_10.jp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Text 0"/>
          <p:cNvSpPr/>
          <p:nvPr/>
        </p:nvSpPr>
        <p:spPr>
          <a:xfrm>
            <a:off x="594360" y="32904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10  ·  </a:t>
            </a:r>
            <a:r>
              <a:rPr lang="zh-CN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現場互動活動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5"/>
          <p:cNvSpPr/>
          <p:nvPr/>
        </p:nvSpPr>
        <p:spPr>
          <a:xfrm>
            <a:off x="594360" y="804600"/>
            <a:ext cx="987480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四個現場活動，讓恢復被看見、被參與、被分享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6"/>
          <p:cNvSpPr/>
          <p:nvPr/>
        </p:nvSpPr>
        <p:spPr>
          <a:xfrm>
            <a:off x="594360" y="1417320"/>
            <a:ext cx="11000160" cy="360"/>
          </a:xfrm>
          <a:prstGeom prst="line">
            <a:avLst/>
          </a:prstGeom>
          <a:ln w="176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42" name="Shape 7"/>
          <p:cNvSpPr/>
          <p:nvPr/>
        </p:nvSpPr>
        <p:spPr>
          <a:xfrm>
            <a:off x="594360" y="1783080"/>
            <a:ext cx="2577960" cy="4251240"/>
          </a:xfrm>
          <a:prstGeom prst="roundRect">
            <a:avLst>
              <a:gd name="adj" fmla="val 2128"/>
            </a:avLst>
          </a:prstGeom>
          <a:solidFill>
            <a:srgbClr val="FFFEFA"/>
          </a:solidFill>
          <a:ln w="10080">
            <a:solidFill>
              <a:srgbClr val="DED1BE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43" name="Shape 8"/>
          <p:cNvSpPr/>
          <p:nvPr/>
        </p:nvSpPr>
        <p:spPr>
          <a:xfrm>
            <a:off x="594360" y="1783080"/>
            <a:ext cx="2577960" cy="54000"/>
          </a:xfrm>
          <a:prstGeom prst="rect">
            <a:avLst/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344" name="Image 0" descr="preencoded.png"/>
          <p:cNvPicPr/>
          <p:nvPr/>
        </p:nvPicPr>
        <p:blipFill>
          <a:blip r:embed="rId4"/>
          <a:stretch/>
        </p:blipFill>
        <p:spPr>
          <a:xfrm>
            <a:off x="777240" y="2121480"/>
            <a:ext cx="419760" cy="41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 9"/>
          <p:cNvSpPr/>
          <p:nvPr/>
        </p:nvSpPr>
        <p:spPr>
          <a:xfrm>
            <a:off x="1344240" y="2112120"/>
            <a:ext cx="150804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9" b="1" u="none" strike="noStrike">
                <a:solidFill>
                  <a:srgbClr val="2DBFC1"/>
                </a:solidFill>
                <a:effectLst/>
                <a:uFillTx/>
                <a:latin typeface="Inter"/>
                <a:ea typeface="DejaVu Sans"/>
              </a:rPr>
              <a:t>活動 </a:t>
            </a:r>
            <a:r>
              <a:rPr lang="en-US" sz="839" b="1" u="none" strike="noStrike">
                <a:solidFill>
                  <a:srgbClr val="2DBFC1"/>
                </a:solidFill>
                <a:effectLst/>
                <a:uFillTx/>
                <a:latin typeface="Inter"/>
                <a:ea typeface="DejaVu Sans"/>
              </a:rPr>
              <a:t>A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0"/>
          <p:cNvSpPr/>
          <p:nvPr/>
        </p:nvSpPr>
        <p:spPr>
          <a:xfrm>
            <a:off x="795600" y="2743200"/>
            <a:ext cx="2148120" cy="58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60 </a:t>
            </a:r>
            <a:r>
              <a:rPr lang="zh-CN" sz="1500" b="1" u="none" strike="noStrike" dirty="0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秒</a:t>
            </a:r>
            <a:r>
              <a:rPr lang="zh-TW" altLang="en-US" sz="1500" b="1" u="none" strike="noStrike" dirty="0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快問快答活動挑戰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1"/>
          <p:cNvSpPr/>
          <p:nvPr/>
        </p:nvSpPr>
        <p:spPr>
          <a:xfrm>
            <a:off x="795240" y="3429000"/>
            <a:ext cx="2148840" cy="360"/>
          </a:xfrm>
          <a:prstGeom prst="line">
            <a:avLst/>
          </a:prstGeom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48" name="Text 12"/>
          <p:cNvSpPr/>
          <p:nvPr/>
        </p:nvSpPr>
        <p:spPr>
          <a:xfrm>
            <a:off x="795600" y="3639240"/>
            <a:ext cx="2148120" cy="112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altLang="en-US" sz="102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由</a:t>
            </a:r>
            <a:r>
              <a:rPr lang="en-US" altLang="zh-TW" sz="1020" dirty="0">
                <a:solidFill>
                  <a:srgbClr val="5C7473"/>
                </a:solidFill>
                <a:latin typeface="Noto Sans CJK TC"/>
                <a:ea typeface="Noto Sans CJK TC"/>
              </a:rPr>
              <a:t>TA</a:t>
            </a:r>
            <a:r>
              <a:rPr lang="zh-CN" sz="102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回答運動頻率、賽後習慣與下一次訓練時間，生成可分享的「今日恢復習慣檢視卡」。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3"/>
          <p:cNvSpPr/>
          <p:nvPr/>
        </p:nvSpPr>
        <p:spPr>
          <a:xfrm>
            <a:off x="777240" y="5139000"/>
            <a:ext cx="2193840" cy="419760"/>
          </a:xfrm>
          <a:prstGeom prst="roundRect">
            <a:avLst>
              <a:gd name="adj" fmla="val 17391"/>
            </a:avLst>
          </a:prstGeom>
          <a:solidFill>
            <a:srgbClr val="EDE7DC"/>
          </a:solidFill>
          <a:ln w="12600">
            <a:solidFill>
              <a:srgbClr val="EDE7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50" name="Text 14"/>
          <p:cNvSpPr/>
          <p:nvPr/>
        </p:nvSpPr>
        <p:spPr>
          <a:xfrm>
            <a:off x="850320" y="5157360"/>
            <a:ext cx="204768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行動呼籲｜掃碼看你的恢復習慣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5"/>
          <p:cNvSpPr/>
          <p:nvPr/>
        </p:nvSpPr>
        <p:spPr>
          <a:xfrm>
            <a:off x="3401640" y="1783080"/>
            <a:ext cx="2577960" cy="4251240"/>
          </a:xfrm>
          <a:prstGeom prst="roundRect">
            <a:avLst>
              <a:gd name="adj" fmla="val 2128"/>
            </a:avLst>
          </a:prstGeom>
          <a:solidFill>
            <a:srgbClr val="FFFEFA"/>
          </a:solidFill>
          <a:ln w="10080">
            <a:solidFill>
              <a:srgbClr val="DED1BE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52" name="Shape 16"/>
          <p:cNvSpPr/>
          <p:nvPr/>
        </p:nvSpPr>
        <p:spPr>
          <a:xfrm>
            <a:off x="3401640" y="1783080"/>
            <a:ext cx="2577960" cy="54000"/>
          </a:xfrm>
          <a:prstGeom prst="rect">
            <a:avLst/>
          </a:prstGeom>
          <a:solidFill>
            <a:srgbClr val="B89A42"/>
          </a:solidFill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353" name="Image 1" descr="preencoded.png"/>
          <p:cNvPicPr/>
          <p:nvPr/>
        </p:nvPicPr>
        <p:blipFill>
          <a:blip r:embed="rId5"/>
          <a:stretch/>
        </p:blipFill>
        <p:spPr>
          <a:xfrm>
            <a:off x="3584520" y="2121480"/>
            <a:ext cx="419760" cy="41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Text 17"/>
          <p:cNvSpPr/>
          <p:nvPr/>
        </p:nvSpPr>
        <p:spPr>
          <a:xfrm>
            <a:off x="4151520" y="2112120"/>
            <a:ext cx="150804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9" b="1" u="none" strike="noStrike">
                <a:solidFill>
                  <a:srgbClr val="B89A42"/>
                </a:solidFill>
                <a:effectLst/>
                <a:uFillTx/>
                <a:latin typeface="Inter"/>
                <a:ea typeface="DejaVu Sans"/>
              </a:rPr>
              <a:t>活動 </a:t>
            </a:r>
            <a:r>
              <a:rPr lang="en-US" sz="839" b="1" u="none" strike="noStrike">
                <a:solidFill>
                  <a:srgbClr val="B89A42"/>
                </a:solidFill>
                <a:effectLst/>
                <a:uFillTx/>
                <a:latin typeface="Inter"/>
                <a:ea typeface="DejaVu Sans"/>
              </a:rPr>
              <a:t>B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8"/>
          <p:cNvSpPr/>
          <p:nvPr/>
        </p:nvSpPr>
        <p:spPr>
          <a:xfrm>
            <a:off x="3602880" y="2743200"/>
            <a:ext cx="2148120" cy="58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HYROX </a:t>
            </a:r>
            <a:r>
              <a:rPr lang="zh-CN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動作＋呼吸引導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9"/>
          <p:cNvSpPr/>
          <p:nvPr/>
        </p:nvSpPr>
        <p:spPr>
          <a:xfrm>
            <a:off x="3602520" y="3429000"/>
            <a:ext cx="2148840" cy="360"/>
          </a:xfrm>
          <a:prstGeom prst="line">
            <a:avLst/>
          </a:prstGeom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57" name="Text 20"/>
          <p:cNvSpPr/>
          <p:nvPr/>
        </p:nvSpPr>
        <p:spPr>
          <a:xfrm>
            <a:off x="3602880" y="3639240"/>
            <a:ext cx="2148120" cy="112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20 </a:t>
            </a:r>
            <a:r>
              <a:rPr lang="zh-CN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秒低負荷動作，再接 </a:t>
            </a:r>
            <a:r>
              <a:rPr lang="en-US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20 </a:t>
            </a:r>
            <a:r>
              <a:rPr lang="zh-CN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秒呼吸引導。不是比誰最快，而是示範挑戰後如何停下來。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21"/>
          <p:cNvSpPr/>
          <p:nvPr/>
        </p:nvSpPr>
        <p:spPr>
          <a:xfrm>
            <a:off x="3584520" y="5139000"/>
            <a:ext cx="2193840" cy="419760"/>
          </a:xfrm>
          <a:prstGeom prst="roundRect">
            <a:avLst>
              <a:gd name="adj" fmla="val 17391"/>
            </a:avLst>
          </a:prstGeom>
          <a:solidFill>
            <a:srgbClr val="EDE7DC"/>
          </a:solidFill>
          <a:ln w="12600">
            <a:solidFill>
              <a:srgbClr val="EDE7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59" name="Text 22"/>
          <p:cNvSpPr/>
          <p:nvPr/>
        </p:nvSpPr>
        <p:spPr>
          <a:xfrm>
            <a:off x="3657600" y="5157360"/>
            <a:ext cx="204768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行動呼籲｜完成動作與恢復配對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23"/>
          <p:cNvSpPr/>
          <p:nvPr/>
        </p:nvSpPr>
        <p:spPr>
          <a:xfrm>
            <a:off x="6208920" y="1783080"/>
            <a:ext cx="2577960" cy="4251240"/>
          </a:xfrm>
          <a:prstGeom prst="roundRect">
            <a:avLst>
              <a:gd name="adj" fmla="val 2128"/>
            </a:avLst>
          </a:prstGeom>
          <a:solidFill>
            <a:srgbClr val="FFFEFA"/>
          </a:solidFill>
          <a:ln w="10080">
            <a:solidFill>
              <a:srgbClr val="DED1BE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61" name="Shape 24"/>
          <p:cNvSpPr/>
          <p:nvPr/>
        </p:nvSpPr>
        <p:spPr>
          <a:xfrm>
            <a:off x="6208920" y="1783080"/>
            <a:ext cx="2577960" cy="54000"/>
          </a:xfrm>
          <a:prstGeom prst="rect">
            <a:avLst/>
          </a:prstGeom>
          <a:solidFill>
            <a:srgbClr val="C76A43"/>
          </a:solidFill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362" name="Image 2" descr="preencoded.png"/>
          <p:cNvPicPr/>
          <p:nvPr/>
        </p:nvPicPr>
        <p:blipFill>
          <a:blip r:embed="rId6"/>
          <a:stretch/>
        </p:blipFill>
        <p:spPr>
          <a:xfrm>
            <a:off x="6391800" y="2121480"/>
            <a:ext cx="419760" cy="41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Text 25"/>
          <p:cNvSpPr/>
          <p:nvPr/>
        </p:nvSpPr>
        <p:spPr>
          <a:xfrm>
            <a:off x="6958440" y="2112120"/>
            <a:ext cx="150804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9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活動 </a:t>
            </a:r>
            <a:r>
              <a:rPr lang="en-US" sz="839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C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6"/>
          <p:cNvSpPr/>
          <p:nvPr/>
        </p:nvSpPr>
        <p:spPr>
          <a:xfrm>
            <a:off x="6409800" y="2743200"/>
            <a:ext cx="2148120" cy="58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大 </a:t>
            </a:r>
            <a:r>
              <a:rPr lang="en-US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H</a:t>
            </a:r>
            <a:r>
              <a:rPr lang="zh-CN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「訓練後的下一步」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27"/>
          <p:cNvSpPr/>
          <p:nvPr/>
        </p:nvSpPr>
        <p:spPr>
          <a:xfrm>
            <a:off x="6409800" y="3429000"/>
            <a:ext cx="2148840" cy="360"/>
          </a:xfrm>
          <a:prstGeom prst="line">
            <a:avLst/>
          </a:prstGeom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66" name="Text 28"/>
          <p:cNvSpPr/>
          <p:nvPr/>
        </p:nvSpPr>
        <p:spPr>
          <a:xfrm>
            <a:off x="6409800" y="3639240"/>
            <a:ext cx="2148120" cy="112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altLang="en-US" sz="102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安排</a:t>
            </a:r>
            <a:r>
              <a:rPr lang="en-US" sz="102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15–20 </a:t>
            </a:r>
            <a:r>
              <a:rPr lang="zh-CN" sz="102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分鐘短講與問答，談高強度訓練者如何安排休息、觀察狀態與下一次訓練。</a:t>
            </a:r>
            <a:endParaRPr lang="en-US" sz="10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29"/>
          <p:cNvSpPr/>
          <p:nvPr/>
        </p:nvSpPr>
        <p:spPr>
          <a:xfrm>
            <a:off x="6391800" y="5139000"/>
            <a:ext cx="2193840" cy="419760"/>
          </a:xfrm>
          <a:prstGeom prst="roundRect">
            <a:avLst>
              <a:gd name="adj" fmla="val 17391"/>
            </a:avLst>
          </a:prstGeom>
          <a:solidFill>
            <a:srgbClr val="EDE7DC"/>
          </a:solidFill>
          <a:ln w="12600">
            <a:solidFill>
              <a:srgbClr val="EDE7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68" name="Text 30"/>
          <p:cNvSpPr/>
          <p:nvPr/>
        </p:nvSpPr>
        <p:spPr>
          <a:xfrm>
            <a:off x="6464880" y="5157360"/>
            <a:ext cx="204768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行動呼籲｜參與現場對談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31"/>
          <p:cNvSpPr/>
          <p:nvPr/>
        </p:nvSpPr>
        <p:spPr>
          <a:xfrm>
            <a:off x="9015840" y="1783080"/>
            <a:ext cx="2577960" cy="4251240"/>
          </a:xfrm>
          <a:prstGeom prst="roundRect">
            <a:avLst>
              <a:gd name="adj" fmla="val 2128"/>
            </a:avLst>
          </a:prstGeom>
          <a:solidFill>
            <a:srgbClr val="FFFEFA"/>
          </a:solidFill>
          <a:ln w="10080">
            <a:solidFill>
              <a:srgbClr val="DED1BE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70" name="Shape 32"/>
          <p:cNvSpPr/>
          <p:nvPr/>
        </p:nvSpPr>
        <p:spPr>
          <a:xfrm>
            <a:off x="9015840" y="1783080"/>
            <a:ext cx="2577960" cy="54000"/>
          </a:xfrm>
          <a:prstGeom prst="rect">
            <a:avLst/>
          </a:prstGeom>
          <a:solidFill>
            <a:srgbClr val="7BB9B3"/>
          </a:solidFill>
          <a:ln w="12600">
            <a:solidFill>
              <a:srgbClr val="7BB9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371" name="Image 3" descr="preencoded.png"/>
          <p:cNvPicPr/>
          <p:nvPr/>
        </p:nvPicPr>
        <p:blipFill>
          <a:blip r:embed="rId7"/>
          <a:stretch/>
        </p:blipFill>
        <p:spPr>
          <a:xfrm>
            <a:off x="9198720" y="2121480"/>
            <a:ext cx="419760" cy="41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Text 33"/>
          <p:cNvSpPr/>
          <p:nvPr/>
        </p:nvSpPr>
        <p:spPr>
          <a:xfrm>
            <a:off x="9765720" y="2112120"/>
            <a:ext cx="150804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9" b="1" u="none" strike="noStrike">
                <a:solidFill>
                  <a:srgbClr val="7BB9B3"/>
                </a:solidFill>
                <a:effectLst/>
                <a:uFillTx/>
                <a:latin typeface="Inter"/>
                <a:ea typeface="DejaVu Sans"/>
              </a:rPr>
              <a:t>榮耀儀式 </a:t>
            </a:r>
            <a:r>
              <a:rPr lang="en-US" sz="839" b="1" u="none" strike="noStrike">
                <a:solidFill>
                  <a:srgbClr val="7BB9B3"/>
                </a:solidFill>
                <a:effectLst/>
                <a:uFillTx/>
                <a:latin typeface="Inter"/>
                <a:ea typeface="DejaVu Sans"/>
              </a:rPr>
              <a:t>D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34"/>
          <p:cNvSpPr/>
          <p:nvPr/>
        </p:nvSpPr>
        <p:spPr>
          <a:xfrm>
            <a:off x="9217080" y="2743200"/>
            <a:ext cx="2148120" cy="58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頒獎後重新開機儀式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35"/>
          <p:cNvSpPr/>
          <p:nvPr/>
        </p:nvSpPr>
        <p:spPr>
          <a:xfrm>
            <a:off x="9217080" y="3429000"/>
            <a:ext cx="2148840" cy="360"/>
          </a:xfrm>
          <a:prstGeom prst="line">
            <a:avLst/>
          </a:prstGeom>
          <a:ln w="12600">
            <a:solidFill>
              <a:srgbClr val="7BB9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75" name="Text 36"/>
          <p:cNvSpPr/>
          <p:nvPr/>
        </p:nvSpPr>
        <p:spPr>
          <a:xfrm>
            <a:off x="9217080" y="3639240"/>
            <a:ext cx="2148120" cy="112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得獎旗幟／獎牌、走進 </a:t>
            </a:r>
            <a:r>
              <a:rPr lang="en-US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REBOOT </a:t>
            </a:r>
            <a:r>
              <a:rPr lang="zh-CN" sz="102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區域、掃描年度恢復體驗禮遇，形成可被記住的榮耀轉場。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37"/>
          <p:cNvSpPr/>
          <p:nvPr/>
        </p:nvSpPr>
        <p:spPr>
          <a:xfrm>
            <a:off x="9198720" y="5139000"/>
            <a:ext cx="2193840" cy="419760"/>
          </a:xfrm>
          <a:prstGeom prst="roundRect">
            <a:avLst>
              <a:gd name="adj" fmla="val 17391"/>
            </a:avLst>
          </a:prstGeom>
          <a:solidFill>
            <a:srgbClr val="EDE7DC"/>
          </a:solidFill>
          <a:ln w="12600">
            <a:solidFill>
              <a:srgbClr val="EDE7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77" name="Text 38"/>
          <p:cNvSpPr/>
          <p:nvPr/>
        </p:nvSpPr>
        <p:spPr>
          <a:xfrm>
            <a:off x="9272160" y="5157360"/>
            <a:ext cx="204768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行動呼籲｜啟用年度恢復體驗禮遇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39"/>
          <p:cNvSpPr/>
          <p:nvPr/>
        </p:nvSpPr>
        <p:spPr>
          <a:xfrm>
            <a:off x="594360" y="6510600"/>
            <a:ext cx="109720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3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所有活動以非醫療、低風險、短時間、可追蹤為原則；實際動作與拍攝需取得主辦方及參與者同意。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40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C7473"/>
                </a:solidFill>
                <a:effectLst/>
                <a:uFillTx/>
                <a:latin typeface="Inter"/>
                <a:ea typeface="Inter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Rectangle 334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1" name="TextBox 335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336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Rectangle 337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4" name="TextBox 338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Picture 36" descr="plain.jp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Text 0"/>
          <p:cNvSpPr/>
          <p:nvPr/>
        </p:nvSpPr>
        <p:spPr>
          <a:xfrm>
            <a:off x="594360" y="32904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t>11  ·  運動意見領袖合作</a:t>
            </a:r>
          </a:p>
        </p:txBody>
      </p:sp>
      <p:sp>
        <p:nvSpPr>
          <p:cNvPr id="307" name="Text 1"/>
          <p:cNvSpPr/>
          <p:nvPr/>
        </p:nvSpPr>
        <p:spPr>
          <a:xfrm>
            <a:off x="594360" y="804600"/>
            <a:ext cx="64000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大 </a:t>
            </a:r>
            <a:r>
              <a:rPr lang="en-US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H </a:t>
            </a:r>
            <a:r>
              <a:rPr lang="zh-CN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合作與</a:t>
            </a:r>
            <a:r>
              <a:rPr lang="zh-TW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專業</a:t>
            </a:r>
            <a:r>
              <a:rPr lang="zh-CN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信任建立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2"/>
          <p:cNvSpPr/>
          <p:nvPr/>
        </p:nvSpPr>
        <p:spPr>
          <a:xfrm>
            <a:off x="4537080" y="910440"/>
            <a:ext cx="959400" cy="310320"/>
          </a:xfrm>
          <a:prstGeom prst="roundRect">
            <a:avLst>
              <a:gd name="adj" fmla="val 23529"/>
            </a:avLst>
          </a:prstGeom>
          <a:solidFill>
            <a:srgbClr val="C76A43"/>
          </a:solidFill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09" name="Text 3"/>
          <p:cNvSpPr/>
          <p:nvPr/>
        </p:nvSpPr>
        <p:spPr>
          <a:xfrm>
            <a:off x="4610160" y="946080"/>
            <a:ext cx="8132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400" b="1" u="none" strike="noStrike">
                <a:solidFill>
                  <a:srgbClr val="FFFEFA"/>
                </a:solidFill>
                <a:effectLst/>
                <a:uFillTx/>
                <a:latin typeface="Noto Sans CJK TC"/>
                <a:ea typeface="Noto Sans CJK TC"/>
              </a:rPr>
              <a:t>商業</a:t>
            </a:r>
            <a:r>
              <a:rPr lang="zh-CN" sz="1400" b="1" u="none" strike="noStrike">
                <a:solidFill>
                  <a:srgbClr val="FFFEFA"/>
                </a:solidFill>
                <a:effectLst/>
                <a:uFillTx/>
                <a:latin typeface="Noto Sans CJK TC"/>
                <a:ea typeface="Noto Sans CJK TC"/>
              </a:rPr>
              <a:t>合作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4"/>
          <p:cNvSpPr/>
          <p:nvPr/>
        </p:nvSpPr>
        <p:spPr>
          <a:xfrm>
            <a:off x="594360" y="1417320"/>
            <a:ext cx="11000160" cy="360"/>
          </a:xfrm>
          <a:prstGeom prst="line">
            <a:avLst/>
          </a:prstGeom>
          <a:ln w="176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311" name="Picture 37" descr="p11_fade.png"/>
          <p:cNvPicPr/>
          <p:nvPr/>
        </p:nvPicPr>
        <p:blipFill>
          <a:blip r:embed="rId4"/>
          <a:stretch/>
        </p:blipFill>
        <p:spPr>
          <a:xfrm>
            <a:off x="7543800" y="0"/>
            <a:ext cx="464436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Shape 5"/>
          <p:cNvSpPr/>
          <p:nvPr/>
        </p:nvSpPr>
        <p:spPr>
          <a:xfrm>
            <a:off x="7543800" y="0"/>
            <a:ext cx="4644360" cy="6857280"/>
          </a:xfrm>
          <a:prstGeom prst="rect">
            <a:avLst/>
          </a:prstGeom>
          <a:solidFill>
            <a:srgbClr val="113C3E">
              <a:alpha val="14000"/>
            </a:srgbClr>
          </a:solidFill>
          <a:ln w="12600">
            <a:solidFill>
              <a:srgbClr val="113C3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13" name="Shape 10"/>
          <p:cNvSpPr/>
          <p:nvPr/>
        </p:nvSpPr>
        <p:spPr>
          <a:xfrm>
            <a:off x="960120" y="1920240"/>
            <a:ext cx="360" cy="3337560"/>
          </a:xfrm>
          <a:prstGeom prst="line">
            <a:avLst/>
          </a:prstGeom>
          <a:ln w="2556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14" name="Shape 11"/>
          <p:cNvSpPr/>
          <p:nvPr/>
        </p:nvSpPr>
        <p:spPr>
          <a:xfrm>
            <a:off x="804600" y="1810440"/>
            <a:ext cx="310320" cy="310320"/>
          </a:xfrm>
          <a:prstGeom prst="ellipse">
            <a:avLst/>
          </a:prstGeom>
          <a:solidFill>
            <a:srgbClr val="2DBFC1"/>
          </a:solidFill>
          <a:ln w="15120">
            <a:solidFill>
              <a:srgbClr val="F4E9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315" name="Image 2" descr="preencoded.png"/>
          <p:cNvPicPr/>
          <p:nvPr/>
        </p:nvPicPr>
        <p:blipFill>
          <a:blip r:embed="rId5"/>
          <a:stretch/>
        </p:blipFill>
        <p:spPr>
          <a:xfrm>
            <a:off x="882360" y="1888200"/>
            <a:ext cx="15480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Text 12"/>
          <p:cNvSpPr/>
          <p:nvPr/>
        </p:nvSpPr>
        <p:spPr>
          <a:xfrm>
            <a:off x="1325880" y="1806120"/>
            <a:ext cx="22852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2DBFC1"/>
                </a:solidFill>
                <a:effectLst/>
                <a:uFillTx/>
                <a:latin typeface="Noto Sans CJK TC"/>
                <a:ea typeface="DejaVu Sans"/>
              </a:rPr>
              <a:t>階段 </a:t>
            </a:r>
            <a:r>
              <a:rPr lang="en-US" sz="1200" b="1" u="none" strike="noStrike">
                <a:solidFill>
                  <a:srgbClr val="2DBFC1"/>
                </a:solidFill>
                <a:effectLst/>
                <a:uFillTx/>
                <a:latin typeface="Noto Sans CJK TC"/>
                <a:ea typeface="DejaVu Sans"/>
              </a:rPr>
              <a:t>1</a:t>
            </a:r>
            <a:r>
              <a:rPr lang="zh-CN" sz="1200" b="1" u="none" strike="noStrike">
                <a:solidFill>
                  <a:srgbClr val="2DBFC1"/>
                </a:solidFill>
                <a:effectLst/>
                <a:uFillTx/>
                <a:latin typeface="Noto Sans CJK TC"/>
                <a:ea typeface="DejaVu Sans"/>
              </a:rPr>
              <a:t>｜賽前 </a:t>
            </a:r>
            <a:r>
              <a:rPr lang="en-US" sz="1200" b="1" u="none" strike="noStrike">
                <a:solidFill>
                  <a:srgbClr val="2DBFC1"/>
                </a:solidFill>
                <a:effectLst/>
                <a:uFillTx/>
                <a:latin typeface="Noto Sans CJK TC"/>
                <a:ea typeface="DejaVu Sans"/>
              </a:rPr>
              <a:t>2–3 </a:t>
            </a:r>
            <a:r>
              <a:rPr lang="zh-CN" sz="1200" b="1" u="none" strike="noStrike">
                <a:solidFill>
                  <a:srgbClr val="2DBFC1"/>
                </a:solidFill>
                <a:effectLst/>
                <a:uFillTx/>
                <a:latin typeface="Noto Sans CJK TC"/>
                <a:ea typeface="DejaVu Sans"/>
              </a:rPr>
              <a:t>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3"/>
          <p:cNvSpPr/>
          <p:nvPr/>
        </p:nvSpPr>
        <p:spPr>
          <a:xfrm>
            <a:off x="1325880" y="1984320"/>
            <a:ext cx="479988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專業恢復觀念教育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4"/>
          <p:cNvSpPr/>
          <p:nvPr/>
        </p:nvSpPr>
        <p:spPr>
          <a:xfrm>
            <a:off x="1325880" y="2414160"/>
            <a:ext cx="5439960" cy="52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短影音主題：「我如何安排 </a:t>
            </a:r>
            <a:r>
              <a:rPr lang="en-US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HYROX </a:t>
            </a:r>
            <a:r>
              <a:rPr lang="zh-CN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賽前</a:t>
            </a:r>
            <a:r>
              <a:rPr lang="zh-TW" altLang="en-US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準備</a:t>
            </a:r>
            <a:r>
              <a:rPr lang="zh-CN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與賽後</a:t>
            </a:r>
            <a:r>
              <a:rPr lang="zh-TW" altLang="en-US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恢復</a:t>
            </a:r>
            <a:r>
              <a:rPr lang="zh-CN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」。建立問題、期待與恢復品類</a:t>
            </a:r>
            <a:r>
              <a:rPr lang="zh-TW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專業</a:t>
            </a:r>
            <a:r>
              <a:rPr lang="zh-CN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感。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5"/>
          <p:cNvSpPr/>
          <p:nvPr/>
        </p:nvSpPr>
        <p:spPr>
          <a:xfrm>
            <a:off x="804600" y="3063240"/>
            <a:ext cx="310320" cy="310320"/>
          </a:xfrm>
          <a:prstGeom prst="ellipse">
            <a:avLst/>
          </a:prstGeom>
          <a:solidFill>
            <a:srgbClr val="C76A43"/>
          </a:solidFill>
          <a:ln w="15120">
            <a:solidFill>
              <a:srgbClr val="F4E9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320" name="Image 3" descr="preencoded.png"/>
          <p:cNvPicPr/>
          <p:nvPr/>
        </p:nvPicPr>
        <p:blipFill>
          <a:blip r:embed="rId6"/>
          <a:stretch/>
        </p:blipFill>
        <p:spPr>
          <a:xfrm>
            <a:off x="882360" y="3141000"/>
            <a:ext cx="15480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Text 16"/>
          <p:cNvSpPr/>
          <p:nvPr/>
        </p:nvSpPr>
        <p:spPr>
          <a:xfrm>
            <a:off x="1325880" y="2971800"/>
            <a:ext cx="22852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C76A43"/>
                </a:solidFill>
                <a:effectLst/>
                <a:uFillTx/>
                <a:latin typeface="Noto Sans CJK TC"/>
                <a:ea typeface="DejaVu Sans"/>
              </a:rPr>
              <a:t>階段 </a:t>
            </a:r>
            <a:r>
              <a:rPr lang="en-US" sz="1200" b="1" u="none" strike="noStrike">
                <a:solidFill>
                  <a:srgbClr val="C76A43"/>
                </a:solidFill>
                <a:effectLst/>
                <a:uFillTx/>
                <a:latin typeface="Noto Sans CJK TC"/>
                <a:ea typeface="DejaVu Sans"/>
              </a:rPr>
              <a:t>2</a:t>
            </a:r>
            <a:r>
              <a:rPr lang="zh-CN" sz="1200" b="1" u="none" strike="noStrike">
                <a:solidFill>
                  <a:srgbClr val="C76A43"/>
                </a:solidFill>
                <a:effectLst/>
                <a:uFillTx/>
                <a:latin typeface="Noto Sans CJK TC"/>
                <a:ea typeface="DejaVu Sans"/>
              </a:rPr>
              <a:t>｜賽事期間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7"/>
          <p:cNvSpPr/>
          <p:nvPr/>
        </p:nvSpPr>
        <p:spPr>
          <a:xfrm>
            <a:off x="1325880" y="3237120"/>
            <a:ext cx="479988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現場對談與互動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8"/>
          <p:cNvSpPr/>
          <p:nvPr/>
        </p:nvSpPr>
        <p:spPr>
          <a:xfrm>
            <a:off x="1325880" y="3666600"/>
            <a:ext cx="5439960" cy="52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於</a:t>
            </a:r>
            <a:r>
              <a:rPr lang="zh-CN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恢復體驗區</a:t>
            </a:r>
            <a:r>
              <a:rPr lang="zh-TW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分享</a:t>
            </a:r>
            <a:r>
              <a:rPr lang="zh-CN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、</a:t>
            </a:r>
            <a:r>
              <a:rPr lang="zh-TW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與</a:t>
            </a:r>
            <a:r>
              <a:rPr lang="zh-CN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民眾</a:t>
            </a:r>
            <a:r>
              <a:rPr lang="zh-TW" altLang="en-US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一同</a:t>
            </a:r>
            <a:r>
              <a:rPr lang="zh-TW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體驗</a:t>
            </a:r>
            <a:r>
              <a:rPr lang="zh-CN" sz="1800" b="0" u="none" strike="noStrike" dirty="0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低風險動作挑戰，建立真實交流與社會認同。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9"/>
          <p:cNvSpPr/>
          <p:nvPr/>
        </p:nvSpPr>
        <p:spPr>
          <a:xfrm>
            <a:off x="804600" y="4407480"/>
            <a:ext cx="310320" cy="310320"/>
          </a:xfrm>
          <a:prstGeom prst="ellipse">
            <a:avLst/>
          </a:prstGeom>
          <a:solidFill>
            <a:srgbClr val="B89A42"/>
          </a:solidFill>
          <a:ln w="15120">
            <a:solidFill>
              <a:srgbClr val="F4E9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325" name="Image 4" descr="preencoded.png"/>
          <p:cNvPicPr/>
          <p:nvPr/>
        </p:nvPicPr>
        <p:blipFill>
          <a:blip r:embed="rId7"/>
          <a:stretch/>
        </p:blipFill>
        <p:spPr>
          <a:xfrm>
            <a:off x="882360" y="4485240"/>
            <a:ext cx="154800" cy="15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Text 20"/>
          <p:cNvSpPr/>
          <p:nvPr/>
        </p:nvSpPr>
        <p:spPr>
          <a:xfrm>
            <a:off x="1325880" y="4374720"/>
            <a:ext cx="22852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B89A42"/>
                </a:solidFill>
                <a:effectLst/>
                <a:uFillTx/>
                <a:latin typeface="Noto Sans CJK TC"/>
                <a:ea typeface="DejaVu Sans"/>
              </a:rPr>
              <a:t>階段 </a:t>
            </a:r>
            <a:r>
              <a:rPr lang="en-US" sz="1200" b="1" u="none" strike="noStrike">
                <a:solidFill>
                  <a:srgbClr val="B89A42"/>
                </a:solidFill>
                <a:effectLst/>
                <a:uFillTx/>
                <a:latin typeface="Noto Sans CJK TC"/>
                <a:ea typeface="DejaVu Sans"/>
              </a:rPr>
              <a:t>3</a:t>
            </a:r>
            <a:r>
              <a:rPr lang="zh-CN" sz="1200" b="1" u="none" strike="noStrike">
                <a:solidFill>
                  <a:srgbClr val="B89A42"/>
                </a:solidFill>
                <a:effectLst/>
                <a:uFillTx/>
                <a:latin typeface="Noto Sans CJK TC"/>
                <a:ea typeface="DejaVu Sans"/>
              </a:rPr>
              <a:t>｜賽後 </a:t>
            </a:r>
            <a:r>
              <a:rPr lang="en-US" sz="1200" b="1" u="none" strike="noStrike">
                <a:solidFill>
                  <a:srgbClr val="B89A42"/>
                </a:solidFill>
                <a:effectLst/>
                <a:uFillTx/>
                <a:latin typeface="Noto Sans CJK TC"/>
                <a:ea typeface="DejaVu Sans"/>
              </a:rPr>
              <a:t>1 </a:t>
            </a:r>
            <a:r>
              <a:rPr lang="zh-CN" sz="1200" b="1" u="none" strike="noStrike">
                <a:solidFill>
                  <a:srgbClr val="B89A42"/>
                </a:solidFill>
                <a:effectLst/>
                <a:uFillTx/>
                <a:latin typeface="Noto Sans CJK TC"/>
                <a:ea typeface="DejaVu Sans"/>
              </a:rPr>
              <a:t>週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1"/>
          <p:cNvSpPr/>
          <p:nvPr/>
        </p:nvSpPr>
        <p:spPr>
          <a:xfrm>
            <a:off x="1325880" y="4581000"/>
            <a:ext cx="4799880" cy="32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內容延續與預約導流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22"/>
          <p:cNvSpPr/>
          <p:nvPr/>
        </p:nvSpPr>
        <p:spPr>
          <a:xfrm>
            <a:off x="1325880" y="5010840"/>
            <a:ext cx="5439960" cy="52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80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發布「完賽後，我會怎麼安排下一次訓練」內容，將賽事熱度導向日後體驗。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23"/>
          <p:cNvSpPr/>
          <p:nvPr/>
        </p:nvSpPr>
        <p:spPr>
          <a:xfrm>
            <a:off x="594360" y="5715000"/>
            <a:ext cx="6171480" cy="566280"/>
          </a:xfrm>
          <a:prstGeom prst="roundRect">
            <a:avLst>
              <a:gd name="adj" fmla="val 9677"/>
            </a:avLst>
          </a:prstGeom>
          <a:solidFill>
            <a:srgbClr val="E6EFEA"/>
          </a:solidFill>
          <a:ln w="10080">
            <a:solidFill>
              <a:srgbClr val="D2E0D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30" name="Text 24"/>
          <p:cNvSpPr/>
          <p:nvPr/>
        </p:nvSpPr>
        <p:spPr>
          <a:xfrm>
            <a:off x="841320" y="5879520"/>
            <a:ext cx="56685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大 </a:t>
            </a:r>
            <a:r>
              <a:rPr lang="en-US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H </a:t>
            </a:r>
            <a:r>
              <a:rPr lang="zh-CN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負責建立信任；</a:t>
            </a:r>
            <a:r>
              <a:rPr lang="en-US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REBOOT </a:t>
            </a:r>
            <a:r>
              <a:rPr lang="zh-CN" sz="15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負責提供可被體驗的服務流程。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5"/>
          <p:cNvSpPr/>
          <p:nvPr/>
        </p:nvSpPr>
        <p:spPr>
          <a:xfrm>
            <a:off x="594360" y="6382440"/>
            <a:ext cx="649152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※ 非已正式代言；不得宣稱治療、排乳酸、保證隔天不痠或提升比賽成績。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6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8E5E2"/>
                </a:solidFill>
                <a:effectLst/>
                <a:uFillTx/>
                <a:latin typeface="Inter"/>
                <a:ea typeface="Inter"/>
              </a:rPr>
              <a:t>11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Rectangle 366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4" name="TextBox 367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368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369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7" name="TextBox 370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Picture 49" descr="enhanced_bg_12.jp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6" name="Text 0"/>
          <p:cNvSpPr/>
          <p:nvPr/>
        </p:nvSpPr>
        <p:spPr>
          <a:xfrm>
            <a:off x="594360" y="32904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12  ·  </a:t>
            </a:r>
            <a:r>
              <a:rPr lang="zh-CN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內容與媒體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5"/>
          <p:cNvSpPr/>
          <p:nvPr/>
        </p:nvSpPr>
        <p:spPr>
          <a:xfrm>
            <a:off x="594360" y="804600"/>
            <a:ext cx="859464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內容與媒體：讓賽事熱度延伸到預約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6"/>
          <p:cNvSpPr/>
          <p:nvPr/>
        </p:nvSpPr>
        <p:spPr>
          <a:xfrm>
            <a:off x="594360" y="1417320"/>
            <a:ext cx="11000160" cy="360"/>
          </a:xfrm>
          <a:prstGeom prst="line">
            <a:avLst/>
          </a:prstGeom>
          <a:ln w="176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89" name="Shape 7"/>
          <p:cNvSpPr/>
          <p:nvPr/>
        </p:nvSpPr>
        <p:spPr>
          <a:xfrm>
            <a:off x="594360" y="1783080"/>
            <a:ext cx="3245400" cy="4114080"/>
          </a:xfrm>
          <a:prstGeom prst="roundRect">
            <a:avLst>
              <a:gd name="adj" fmla="val 1690"/>
            </a:avLst>
          </a:prstGeom>
          <a:solidFill>
            <a:srgbClr val="FFFEFA"/>
          </a:solidFill>
          <a:ln w="10080">
            <a:solidFill>
              <a:srgbClr val="DED1BE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90" name="Shape 8"/>
          <p:cNvSpPr/>
          <p:nvPr/>
        </p:nvSpPr>
        <p:spPr>
          <a:xfrm>
            <a:off x="594360" y="1783080"/>
            <a:ext cx="3245400" cy="54000"/>
          </a:xfrm>
          <a:prstGeom prst="rect">
            <a:avLst/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391" name="Image 0" descr="preencoded.png"/>
          <p:cNvPicPr/>
          <p:nvPr/>
        </p:nvPicPr>
        <p:blipFill>
          <a:blip r:embed="rId4"/>
          <a:stretch/>
        </p:blipFill>
        <p:spPr>
          <a:xfrm>
            <a:off x="831960" y="2148840"/>
            <a:ext cx="41076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Text 9"/>
          <p:cNvSpPr/>
          <p:nvPr/>
        </p:nvSpPr>
        <p:spPr>
          <a:xfrm>
            <a:off x="1371600" y="2167200"/>
            <a:ext cx="20566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0" b="1" u="none" strike="noStrike">
                <a:solidFill>
                  <a:srgbClr val="2DBFC1"/>
                </a:solidFill>
                <a:effectLst/>
                <a:uFillTx/>
                <a:latin typeface="Inter"/>
                <a:ea typeface="DejaVu Sans"/>
              </a:rPr>
              <a:t>賽前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0"/>
          <p:cNvSpPr/>
          <p:nvPr/>
        </p:nvSpPr>
        <p:spPr>
          <a:xfrm>
            <a:off x="831960" y="2788920"/>
            <a:ext cx="269676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搜尋與短影音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11"/>
          <p:cNvSpPr/>
          <p:nvPr/>
        </p:nvSpPr>
        <p:spPr>
          <a:xfrm>
            <a:off x="850320" y="3511440"/>
            <a:ext cx="72360" cy="72360"/>
          </a:xfrm>
          <a:prstGeom prst="ellipse">
            <a:avLst/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95" name="Text 12"/>
          <p:cNvSpPr/>
          <p:nvPr/>
        </p:nvSpPr>
        <p:spPr>
          <a:xfrm>
            <a:off x="1014840" y="3401640"/>
            <a:ext cx="253224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搜尋引擎優化（</a:t>
            </a:r>
            <a:r>
              <a:rPr lang="en-US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SEO</a:t>
            </a:r>
            <a:r>
              <a:rPr lang="zh-CN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）：承接「運動後疲勞、</a:t>
            </a:r>
            <a:r>
              <a:rPr lang="en-US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HYROX </a:t>
            </a:r>
            <a:r>
              <a:rPr lang="zh-CN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賽前準備」。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13"/>
          <p:cNvSpPr/>
          <p:nvPr/>
        </p:nvSpPr>
        <p:spPr>
          <a:xfrm>
            <a:off x="850320" y="4151520"/>
            <a:ext cx="72360" cy="72360"/>
          </a:xfrm>
          <a:prstGeom prst="ellipse">
            <a:avLst/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97" name="Text 14"/>
          <p:cNvSpPr/>
          <p:nvPr/>
        </p:nvSpPr>
        <p:spPr>
          <a:xfrm>
            <a:off x="1014840" y="4041720"/>
            <a:ext cx="253224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大 </a:t>
            </a:r>
            <a:r>
              <a:rPr lang="en-US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H</a:t>
            </a:r>
            <a:r>
              <a:rPr lang="zh-CN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：分享恢復觀念，讓受眾賽前就認識 </a:t>
            </a:r>
            <a:r>
              <a:rPr lang="en-US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REBOOT</a:t>
            </a:r>
            <a:r>
              <a:rPr lang="zh-CN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。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5"/>
          <p:cNvSpPr/>
          <p:nvPr/>
        </p:nvSpPr>
        <p:spPr>
          <a:xfrm>
            <a:off x="850320" y="5230440"/>
            <a:ext cx="2696760" cy="419760"/>
          </a:xfrm>
          <a:prstGeom prst="roundRect">
            <a:avLst>
              <a:gd name="adj" fmla="val 17391"/>
            </a:avLst>
          </a:prstGeom>
          <a:solidFill>
            <a:srgbClr val="EDE7DC"/>
          </a:solidFill>
          <a:ln w="12600">
            <a:solidFill>
              <a:srgbClr val="EDE7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399" name="Text 16"/>
          <p:cNvSpPr/>
          <p:nvPr/>
        </p:nvSpPr>
        <p:spPr>
          <a:xfrm>
            <a:off x="923400" y="5248800"/>
            <a:ext cx="25506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任務：找到有痛點的人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7"/>
          <p:cNvSpPr/>
          <p:nvPr/>
        </p:nvSpPr>
        <p:spPr>
          <a:xfrm>
            <a:off x="4069080" y="1783080"/>
            <a:ext cx="3245400" cy="4114080"/>
          </a:xfrm>
          <a:prstGeom prst="roundRect">
            <a:avLst>
              <a:gd name="adj" fmla="val 1690"/>
            </a:avLst>
          </a:prstGeom>
          <a:solidFill>
            <a:srgbClr val="FFFEFA"/>
          </a:solidFill>
          <a:ln w="10080">
            <a:solidFill>
              <a:srgbClr val="DED1BE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01" name="Shape 18"/>
          <p:cNvSpPr/>
          <p:nvPr/>
        </p:nvSpPr>
        <p:spPr>
          <a:xfrm>
            <a:off x="4069080" y="1783080"/>
            <a:ext cx="3245400" cy="54000"/>
          </a:xfrm>
          <a:prstGeom prst="rect">
            <a:avLst/>
          </a:prstGeom>
          <a:solidFill>
            <a:srgbClr val="B89A42"/>
          </a:solidFill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402" name="Image 1" descr="preencoded.png"/>
          <p:cNvPicPr/>
          <p:nvPr/>
        </p:nvPicPr>
        <p:blipFill>
          <a:blip r:embed="rId5"/>
          <a:stretch/>
        </p:blipFill>
        <p:spPr>
          <a:xfrm>
            <a:off x="4306680" y="2148840"/>
            <a:ext cx="41076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Text 19"/>
          <p:cNvSpPr/>
          <p:nvPr/>
        </p:nvSpPr>
        <p:spPr>
          <a:xfrm>
            <a:off x="4846320" y="2167200"/>
            <a:ext cx="20566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0" b="1" u="none" strike="noStrike">
                <a:solidFill>
                  <a:srgbClr val="B89A42"/>
                </a:solidFill>
                <a:effectLst/>
                <a:uFillTx/>
                <a:latin typeface="Inter"/>
                <a:ea typeface="DejaVu Sans"/>
              </a:rPr>
              <a:t>賽事現場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0"/>
          <p:cNvSpPr/>
          <p:nvPr/>
        </p:nvSpPr>
        <p:spPr>
          <a:xfrm>
            <a:off x="4306680" y="2788920"/>
            <a:ext cx="269676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現場互動與 </a:t>
            </a:r>
            <a:r>
              <a:rPr lang="en-US" sz="1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QR </a:t>
            </a:r>
            <a:r>
              <a:rPr lang="zh-CN" sz="1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導流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21"/>
          <p:cNvSpPr/>
          <p:nvPr/>
        </p:nvSpPr>
        <p:spPr>
          <a:xfrm>
            <a:off x="4325040" y="3511440"/>
            <a:ext cx="72360" cy="72360"/>
          </a:xfrm>
          <a:prstGeom prst="ellipse">
            <a:avLst/>
          </a:prstGeom>
          <a:solidFill>
            <a:srgbClr val="B89A42"/>
          </a:solidFill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06" name="Text 22"/>
          <p:cNvSpPr/>
          <p:nvPr/>
        </p:nvSpPr>
        <p:spPr>
          <a:xfrm>
            <a:off x="4489560" y="3401640"/>
            <a:ext cx="253224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恢復體驗區：展示、問答、動作體驗。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23"/>
          <p:cNvSpPr/>
          <p:nvPr/>
        </p:nvSpPr>
        <p:spPr>
          <a:xfrm>
            <a:off x="4325040" y="4151520"/>
            <a:ext cx="72360" cy="72360"/>
          </a:xfrm>
          <a:prstGeom prst="ellipse">
            <a:avLst/>
          </a:prstGeom>
          <a:solidFill>
            <a:srgbClr val="B89A42"/>
          </a:solidFill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08" name="Text 24"/>
          <p:cNvSpPr/>
          <p:nvPr/>
        </p:nvSpPr>
        <p:spPr>
          <a:xfrm>
            <a:off x="4489560" y="4041720"/>
            <a:ext cx="253224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QR </a:t>
            </a:r>
            <a:r>
              <a:rPr lang="zh-CN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碼：把實體接觸轉為可追蹤流量與預約。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25"/>
          <p:cNvSpPr/>
          <p:nvPr/>
        </p:nvSpPr>
        <p:spPr>
          <a:xfrm>
            <a:off x="4325040" y="5230440"/>
            <a:ext cx="2696760" cy="419760"/>
          </a:xfrm>
          <a:prstGeom prst="roundRect">
            <a:avLst>
              <a:gd name="adj" fmla="val 17391"/>
            </a:avLst>
          </a:prstGeom>
          <a:solidFill>
            <a:srgbClr val="EDE7DC"/>
          </a:solidFill>
          <a:ln w="12600">
            <a:solidFill>
              <a:srgbClr val="EDE7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10" name="Text 26"/>
          <p:cNvSpPr/>
          <p:nvPr/>
        </p:nvSpPr>
        <p:spPr>
          <a:xfrm>
            <a:off x="4398120" y="5248800"/>
            <a:ext cx="25506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任務：把感受變成資料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27"/>
          <p:cNvSpPr/>
          <p:nvPr/>
        </p:nvSpPr>
        <p:spPr>
          <a:xfrm>
            <a:off x="7543800" y="1783080"/>
            <a:ext cx="3245400" cy="4114080"/>
          </a:xfrm>
          <a:prstGeom prst="roundRect">
            <a:avLst>
              <a:gd name="adj" fmla="val 1690"/>
            </a:avLst>
          </a:prstGeom>
          <a:solidFill>
            <a:srgbClr val="FFFEFA"/>
          </a:solidFill>
          <a:ln w="10080">
            <a:solidFill>
              <a:srgbClr val="DED1BE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12" name="Shape 28"/>
          <p:cNvSpPr/>
          <p:nvPr/>
        </p:nvSpPr>
        <p:spPr>
          <a:xfrm>
            <a:off x="7543800" y="1783080"/>
            <a:ext cx="3245400" cy="54000"/>
          </a:xfrm>
          <a:prstGeom prst="rect">
            <a:avLst/>
          </a:prstGeom>
          <a:solidFill>
            <a:srgbClr val="C76A43"/>
          </a:solidFill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413" name="Image 2" descr="preencoded.png"/>
          <p:cNvPicPr/>
          <p:nvPr/>
        </p:nvPicPr>
        <p:blipFill>
          <a:blip r:embed="rId6"/>
          <a:stretch/>
        </p:blipFill>
        <p:spPr>
          <a:xfrm>
            <a:off x="7781400" y="2148840"/>
            <a:ext cx="410760" cy="41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 29"/>
          <p:cNvSpPr/>
          <p:nvPr/>
        </p:nvSpPr>
        <p:spPr>
          <a:xfrm>
            <a:off x="8321040" y="2167200"/>
            <a:ext cx="20566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賽後延續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30"/>
          <p:cNvSpPr/>
          <p:nvPr/>
        </p:nvSpPr>
        <p:spPr>
          <a:xfrm>
            <a:off x="7781400" y="2788920"/>
            <a:ext cx="269676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再行銷與年度關係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1"/>
          <p:cNvSpPr/>
          <p:nvPr/>
        </p:nvSpPr>
        <p:spPr>
          <a:xfrm>
            <a:off x="7799760" y="3511440"/>
            <a:ext cx="72360" cy="72360"/>
          </a:xfrm>
          <a:prstGeom prst="ellipse">
            <a:avLst/>
          </a:prstGeom>
          <a:solidFill>
            <a:srgbClr val="C76A43"/>
          </a:solidFill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17" name="Text 32"/>
          <p:cNvSpPr/>
          <p:nvPr/>
        </p:nvSpPr>
        <p:spPr>
          <a:xfrm>
            <a:off x="7964280" y="3401640"/>
            <a:ext cx="253224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得獎者：年度恢復體驗禮遇 啟用與每月提醒。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3"/>
          <p:cNvSpPr/>
          <p:nvPr/>
        </p:nvSpPr>
        <p:spPr>
          <a:xfrm>
            <a:off x="7799760" y="4151520"/>
            <a:ext cx="72360" cy="72360"/>
          </a:xfrm>
          <a:prstGeom prst="ellipse">
            <a:avLst/>
          </a:prstGeom>
          <a:solidFill>
            <a:srgbClr val="C76A43"/>
          </a:solidFill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19" name="Text 34"/>
          <p:cNvSpPr/>
          <p:nvPr/>
        </p:nvSpPr>
        <p:spPr>
          <a:xfrm>
            <a:off x="7964280" y="4041720"/>
            <a:ext cx="2532240" cy="62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一般參賽者：賽後內容、</a:t>
            </a:r>
            <a:r>
              <a:rPr lang="en-US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LINE</a:t>
            </a:r>
            <a:r>
              <a:rPr lang="zh-CN" sz="104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／電子郵件 與再行銷。</a:t>
            </a:r>
            <a:endParaRPr lang="en-US" sz="1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35"/>
          <p:cNvSpPr/>
          <p:nvPr/>
        </p:nvSpPr>
        <p:spPr>
          <a:xfrm>
            <a:off x="7799760" y="5230440"/>
            <a:ext cx="2696760" cy="419760"/>
          </a:xfrm>
          <a:prstGeom prst="roundRect">
            <a:avLst>
              <a:gd name="adj" fmla="val 17391"/>
            </a:avLst>
          </a:prstGeom>
          <a:solidFill>
            <a:srgbClr val="EDE7DC"/>
          </a:solidFill>
          <a:ln w="12600">
            <a:solidFill>
              <a:srgbClr val="EDE7D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21" name="Text 36"/>
          <p:cNvSpPr/>
          <p:nvPr/>
        </p:nvSpPr>
        <p:spPr>
          <a:xfrm>
            <a:off x="7872840" y="5248800"/>
            <a:ext cx="255060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任務：把記憶變成習慣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39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C7473"/>
                </a:solidFill>
                <a:effectLst/>
                <a:uFillTx/>
                <a:latin typeface="Inter"/>
                <a:ea typeface="Inter"/>
              </a:rPr>
              <a:t>12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Rectangle 410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4" name="TextBox 411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412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Rectangle 413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7" name="TextBox 414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Picture 53" descr="enhanced_bg_13.jp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9" name="Text 0"/>
          <p:cNvSpPr/>
          <p:nvPr/>
        </p:nvSpPr>
        <p:spPr>
          <a:xfrm>
            <a:off x="594360" y="32904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13  ·  </a:t>
            </a:r>
            <a:r>
              <a:rPr lang="zh-CN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從搜尋到體驗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5"/>
          <p:cNvSpPr/>
          <p:nvPr/>
        </p:nvSpPr>
        <p:spPr>
          <a:xfrm>
            <a:off x="594360" y="804600"/>
            <a:ext cx="786312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從搜尋問題，到 </a:t>
            </a:r>
            <a:r>
              <a:rPr lang="en-US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30 </a:t>
            </a:r>
            <a:r>
              <a:rPr lang="zh-CN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分鐘體驗頁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Shape 6"/>
          <p:cNvSpPr/>
          <p:nvPr/>
        </p:nvSpPr>
        <p:spPr>
          <a:xfrm>
            <a:off x="594360" y="1417320"/>
            <a:ext cx="11000160" cy="360"/>
          </a:xfrm>
          <a:prstGeom prst="line">
            <a:avLst/>
          </a:prstGeom>
          <a:ln w="176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32" name="Text 7"/>
          <p:cNvSpPr/>
          <p:nvPr/>
        </p:nvSpPr>
        <p:spPr>
          <a:xfrm>
            <a:off x="594360" y="1609200"/>
            <a:ext cx="10697760" cy="31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00" b="1" u="none" strike="noStrike">
                <a:solidFill>
                  <a:srgbClr val="00B050"/>
                </a:solidFill>
                <a:effectLst/>
                <a:uFillTx/>
                <a:latin typeface="Noto Sans CJK TC"/>
                <a:ea typeface="Noto Sans CJK TC"/>
              </a:rPr>
              <a:t>搜尋引擎優化（</a:t>
            </a:r>
            <a:r>
              <a:rPr lang="en-US" sz="1200" b="1" u="none" strike="noStrike">
                <a:solidFill>
                  <a:srgbClr val="00B050"/>
                </a:solidFill>
                <a:effectLst/>
                <a:uFillTx/>
                <a:latin typeface="Noto Sans CJK TC"/>
                <a:ea typeface="Noto Sans CJK TC"/>
              </a:rPr>
              <a:t>SEO</a:t>
            </a:r>
            <a:r>
              <a:rPr lang="zh-CN" sz="1200" b="1" u="none" strike="noStrike">
                <a:solidFill>
                  <a:srgbClr val="00B050"/>
                </a:solidFill>
                <a:effectLst/>
                <a:uFillTx/>
                <a:latin typeface="Noto Sans CJK TC"/>
                <a:ea typeface="Noto Sans CJK TC"/>
              </a:rPr>
              <a:t>）不獨立存在，而是承接 </a:t>
            </a:r>
            <a:r>
              <a:rPr lang="en-US" sz="1200" b="1" u="none" strike="noStrike">
                <a:solidFill>
                  <a:srgbClr val="00B050"/>
                </a:solidFill>
                <a:effectLst/>
                <a:uFillTx/>
                <a:latin typeface="Noto Sans CJK TC"/>
                <a:ea typeface="Noto Sans CJK TC"/>
              </a:rPr>
              <a:t>HYROX </a:t>
            </a:r>
            <a:r>
              <a:rPr lang="zh-CN" sz="1200" b="1" u="none" strike="noStrike">
                <a:solidFill>
                  <a:srgbClr val="00B050"/>
                </a:solidFill>
                <a:effectLst/>
                <a:uFillTx/>
                <a:latin typeface="Noto Sans CJK TC"/>
                <a:ea typeface="Noto Sans CJK TC"/>
              </a:rPr>
              <a:t>活動企劃 的不同搜尋意圖，最後導向同一個體驗預約。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8"/>
          <p:cNvSpPr/>
          <p:nvPr/>
        </p:nvSpPr>
        <p:spPr>
          <a:xfrm>
            <a:off x="594360" y="2057400"/>
            <a:ext cx="6080040" cy="621000"/>
          </a:xfrm>
          <a:prstGeom prst="roundRect">
            <a:avLst>
              <a:gd name="adj" fmla="val 8824"/>
            </a:avLst>
          </a:prstGeom>
          <a:solidFill>
            <a:srgbClr val="FFFEFA"/>
          </a:solidFill>
          <a:ln w="10080">
            <a:solidFill>
              <a:srgbClr val="DED1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34" name="Shape 9"/>
          <p:cNvSpPr/>
          <p:nvPr/>
        </p:nvSpPr>
        <p:spPr>
          <a:xfrm>
            <a:off x="594360" y="2057400"/>
            <a:ext cx="6080040" cy="54000"/>
          </a:xfrm>
          <a:prstGeom prst="rect">
            <a:avLst/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35" name="Shape 10"/>
          <p:cNvSpPr/>
          <p:nvPr/>
        </p:nvSpPr>
        <p:spPr>
          <a:xfrm>
            <a:off x="786240" y="2221920"/>
            <a:ext cx="749160" cy="273600"/>
          </a:xfrm>
          <a:prstGeom prst="roundRect">
            <a:avLst>
              <a:gd name="adj" fmla="val 26667"/>
            </a:avLst>
          </a:prstGeom>
          <a:solidFill>
            <a:srgbClr val="2DBFC1"/>
          </a:solidFill>
          <a:ln w="12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36" name="Text 11"/>
          <p:cNvSpPr/>
          <p:nvPr/>
        </p:nvSpPr>
        <p:spPr>
          <a:xfrm>
            <a:off x="859680" y="2240280"/>
            <a:ext cx="60264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FFFEFA"/>
                </a:solidFill>
                <a:effectLst/>
                <a:uFillTx/>
                <a:latin typeface="Noto Sans CJK TC"/>
                <a:ea typeface="Noto Sans CJK TC"/>
              </a:rPr>
              <a:t>資訊型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2"/>
          <p:cNvSpPr/>
          <p:nvPr/>
        </p:nvSpPr>
        <p:spPr>
          <a:xfrm>
            <a:off x="1700640" y="2167200"/>
            <a:ext cx="3400920" cy="26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HYROX </a:t>
            </a:r>
            <a:r>
              <a:rPr lang="zh-CN" sz="106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賽前如何安排訓練與恢復？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3"/>
          <p:cNvSpPr/>
          <p:nvPr/>
        </p:nvSpPr>
        <p:spPr>
          <a:xfrm>
            <a:off x="4754880" y="216720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2DBFC1"/>
                </a:solidFill>
                <a:effectLst/>
                <a:uFillTx/>
                <a:latin typeface="Noto Sans CJK TC"/>
                <a:ea typeface="Noto Sans CJK TC"/>
              </a:rPr>
              <a:t>→ 賽事準備內容頁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4"/>
          <p:cNvSpPr/>
          <p:nvPr/>
        </p:nvSpPr>
        <p:spPr>
          <a:xfrm>
            <a:off x="594360" y="2862000"/>
            <a:ext cx="6080040" cy="621000"/>
          </a:xfrm>
          <a:prstGeom prst="roundRect">
            <a:avLst>
              <a:gd name="adj" fmla="val 8824"/>
            </a:avLst>
          </a:prstGeom>
          <a:solidFill>
            <a:srgbClr val="FFFEFA"/>
          </a:solidFill>
          <a:ln w="10080">
            <a:solidFill>
              <a:srgbClr val="DED1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40" name="Shape 15"/>
          <p:cNvSpPr/>
          <p:nvPr/>
        </p:nvSpPr>
        <p:spPr>
          <a:xfrm>
            <a:off x="594360" y="2862000"/>
            <a:ext cx="6080040" cy="54000"/>
          </a:xfrm>
          <a:prstGeom prst="rect">
            <a:avLst/>
          </a:prstGeom>
          <a:solidFill>
            <a:srgbClr val="B89A42"/>
          </a:solidFill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41" name="Shape 16"/>
          <p:cNvSpPr/>
          <p:nvPr/>
        </p:nvSpPr>
        <p:spPr>
          <a:xfrm>
            <a:off x="786240" y="3026520"/>
            <a:ext cx="749160" cy="273600"/>
          </a:xfrm>
          <a:prstGeom prst="roundRect">
            <a:avLst>
              <a:gd name="adj" fmla="val 26667"/>
            </a:avLst>
          </a:prstGeom>
          <a:solidFill>
            <a:srgbClr val="B89A42"/>
          </a:solidFill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42" name="Text 17"/>
          <p:cNvSpPr/>
          <p:nvPr/>
        </p:nvSpPr>
        <p:spPr>
          <a:xfrm>
            <a:off x="859680" y="3044880"/>
            <a:ext cx="60264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問題型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8"/>
          <p:cNvSpPr/>
          <p:nvPr/>
        </p:nvSpPr>
        <p:spPr>
          <a:xfrm>
            <a:off x="1700640" y="2971800"/>
            <a:ext cx="3400920" cy="26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HYROX </a:t>
            </a:r>
            <a:r>
              <a:rPr lang="zh-CN" sz="106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完賽後疲勞</a:t>
            </a:r>
            <a:r>
              <a:rPr lang="zh-TW" sz="106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恢復</a:t>
            </a:r>
            <a:r>
              <a:rPr lang="zh-CN" sz="106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如何安排？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9"/>
          <p:cNvSpPr/>
          <p:nvPr/>
        </p:nvSpPr>
        <p:spPr>
          <a:xfrm>
            <a:off x="4754880" y="297180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B89A42"/>
                </a:solidFill>
                <a:effectLst/>
                <a:uFillTx/>
                <a:latin typeface="Noto Sans CJK TC"/>
                <a:ea typeface="Noto Sans CJK TC"/>
              </a:rPr>
              <a:t>→ 賽後恢復指南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20"/>
          <p:cNvSpPr/>
          <p:nvPr/>
        </p:nvSpPr>
        <p:spPr>
          <a:xfrm>
            <a:off x="594360" y="3666600"/>
            <a:ext cx="6080040" cy="621000"/>
          </a:xfrm>
          <a:prstGeom prst="roundRect">
            <a:avLst>
              <a:gd name="adj" fmla="val 8824"/>
            </a:avLst>
          </a:prstGeom>
          <a:solidFill>
            <a:srgbClr val="FFFEFA"/>
          </a:solidFill>
          <a:ln w="10080">
            <a:solidFill>
              <a:srgbClr val="DED1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46" name="Shape 21"/>
          <p:cNvSpPr/>
          <p:nvPr/>
        </p:nvSpPr>
        <p:spPr>
          <a:xfrm>
            <a:off x="594360" y="3666600"/>
            <a:ext cx="6080040" cy="54000"/>
          </a:xfrm>
          <a:prstGeom prst="rect">
            <a:avLst/>
          </a:prstGeom>
          <a:solidFill>
            <a:srgbClr val="C76A43"/>
          </a:solidFill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47" name="Shape 22"/>
          <p:cNvSpPr/>
          <p:nvPr/>
        </p:nvSpPr>
        <p:spPr>
          <a:xfrm>
            <a:off x="786240" y="3831480"/>
            <a:ext cx="749160" cy="273600"/>
          </a:xfrm>
          <a:prstGeom prst="roundRect">
            <a:avLst>
              <a:gd name="adj" fmla="val 26667"/>
            </a:avLst>
          </a:prstGeom>
          <a:solidFill>
            <a:srgbClr val="C76A43"/>
          </a:solidFill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48" name="Text 23"/>
          <p:cNvSpPr/>
          <p:nvPr/>
        </p:nvSpPr>
        <p:spPr>
          <a:xfrm>
            <a:off x="859680" y="3849480"/>
            <a:ext cx="60264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FFFEFA"/>
                </a:solidFill>
                <a:effectLst/>
                <a:uFillTx/>
                <a:latin typeface="Noto Sans CJK TC"/>
                <a:ea typeface="Noto Sans CJK TC"/>
              </a:rPr>
              <a:t>比較型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24"/>
          <p:cNvSpPr/>
          <p:nvPr/>
        </p:nvSpPr>
        <p:spPr>
          <a:xfrm>
            <a:off x="1700640" y="3776400"/>
            <a:ext cx="3400920" cy="26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06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按摩、筋膜槍與恢復科技有什麼不同？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5"/>
          <p:cNvSpPr/>
          <p:nvPr/>
        </p:nvSpPr>
        <p:spPr>
          <a:xfrm>
            <a:off x="4754880" y="377640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C76A43"/>
                </a:solidFill>
                <a:effectLst/>
                <a:uFillTx/>
                <a:latin typeface="Noto Sans CJK TC"/>
                <a:ea typeface="Noto Sans CJK TC"/>
              </a:rPr>
              <a:t>→ REBOOT </a:t>
            </a:r>
            <a:r>
              <a:rPr lang="zh-CN" sz="920" b="1" u="none" strike="noStrike">
                <a:solidFill>
                  <a:srgbClr val="C76A43"/>
                </a:solidFill>
                <a:effectLst/>
                <a:uFillTx/>
                <a:latin typeface="Noto Sans CJK TC"/>
                <a:ea typeface="Noto Sans CJK TC"/>
              </a:rPr>
              <a:t>體驗介紹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26"/>
          <p:cNvSpPr/>
          <p:nvPr/>
        </p:nvSpPr>
        <p:spPr>
          <a:xfrm>
            <a:off x="594360" y="4471560"/>
            <a:ext cx="6080040" cy="621000"/>
          </a:xfrm>
          <a:prstGeom prst="roundRect">
            <a:avLst>
              <a:gd name="adj" fmla="val 8824"/>
            </a:avLst>
          </a:prstGeom>
          <a:solidFill>
            <a:srgbClr val="FFFEFA"/>
          </a:solidFill>
          <a:ln w="10080">
            <a:solidFill>
              <a:srgbClr val="DED1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52" name="Shape 27"/>
          <p:cNvSpPr/>
          <p:nvPr/>
        </p:nvSpPr>
        <p:spPr>
          <a:xfrm>
            <a:off x="594360" y="4471560"/>
            <a:ext cx="6080040" cy="54000"/>
          </a:xfrm>
          <a:prstGeom prst="rect">
            <a:avLst/>
          </a:prstGeom>
          <a:solidFill>
            <a:srgbClr val="7BB9B3"/>
          </a:solidFill>
          <a:ln w="12600">
            <a:solidFill>
              <a:srgbClr val="7BB9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53" name="Shape 28"/>
          <p:cNvSpPr/>
          <p:nvPr/>
        </p:nvSpPr>
        <p:spPr>
          <a:xfrm>
            <a:off x="786240" y="4636080"/>
            <a:ext cx="749160" cy="273600"/>
          </a:xfrm>
          <a:prstGeom prst="roundRect">
            <a:avLst>
              <a:gd name="adj" fmla="val 26667"/>
            </a:avLst>
          </a:prstGeom>
          <a:solidFill>
            <a:srgbClr val="7BB9B3"/>
          </a:solidFill>
          <a:ln w="12600">
            <a:solidFill>
              <a:srgbClr val="7BB9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54" name="Text 29"/>
          <p:cNvSpPr/>
          <p:nvPr/>
        </p:nvSpPr>
        <p:spPr>
          <a:xfrm>
            <a:off x="859680" y="4654440"/>
            <a:ext cx="60264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FFFEFA"/>
                </a:solidFill>
                <a:effectLst/>
                <a:uFillTx/>
                <a:latin typeface="Noto Sans CJK TC"/>
                <a:ea typeface="Noto Sans CJK TC"/>
              </a:rPr>
              <a:t>交易型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30"/>
          <p:cNvSpPr/>
          <p:nvPr/>
        </p:nvSpPr>
        <p:spPr>
          <a:xfrm>
            <a:off x="1700640" y="4581000"/>
            <a:ext cx="3400920" cy="26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HYROX Taipei </a:t>
            </a:r>
            <a:r>
              <a:rPr lang="zh-CN" sz="106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賽後恢復體驗如何預約？</a:t>
            </a:r>
            <a:endParaRPr lang="en-US" sz="10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31"/>
          <p:cNvSpPr/>
          <p:nvPr/>
        </p:nvSpPr>
        <p:spPr>
          <a:xfrm>
            <a:off x="4754880" y="4581000"/>
            <a:ext cx="169092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7BB9B3"/>
                </a:solidFill>
                <a:effectLst/>
                <a:uFillTx/>
                <a:latin typeface="Noto Sans CJK TC"/>
                <a:ea typeface="Noto Sans CJK TC"/>
              </a:rPr>
              <a:t>→ 30 </a:t>
            </a:r>
            <a:r>
              <a:rPr lang="zh-CN" sz="920" b="1" u="none" strike="noStrike">
                <a:solidFill>
                  <a:srgbClr val="7BB9B3"/>
                </a:solidFill>
                <a:effectLst/>
                <a:uFillTx/>
                <a:latin typeface="Noto Sans CJK TC"/>
                <a:ea typeface="Noto Sans CJK TC"/>
              </a:rPr>
              <a:t>分鐘體驗預約頁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32"/>
          <p:cNvSpPr/>
          <p:nvPr/>
        </p:nvSpPr>
        <p:spPr>
          <a:xfrm>
            <a:off x="8077320" y="1720080"/>
            <a:ext cx="3428280" cy="4525560"/>
          </a:xfrm>
          <a:prstGeom prst="roundRect">
            <a:avLst>
              <a:gd name="adj" fmla="val 4800"/>
            </a:avLst>
          </a:prstGeom>
          <a:solidFill>
            <a:srgbClr val="151515"/>
          </a:solidFill>
          <a:ln w="15120">
            <a:solidFill>
              <a:srgbClr val="333333"/>
            </a:solidFill>
            <a:round/>
          </a:ln>
          <a:effectLst>
            <a:outerShdw rotWithShape="0">
              <a:srgbClr val="000000">
                <a:alpha val="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58" name="Shape 33"/>
          <p:cNvSpPr/>
          <p:nvPr/>
        </p:nvSpPr>
        <p:spPr>
          <a:xfrm>
            <a:off x="8251200" y="1985400"/>
            <a:ext cx="3080880" cy="4022640"/>
          </a:xfrm>
          <a:prstGeom prst="roundRect">
            <a:avLst>
              <a:gd name="adj" fmla="val 3561"/>
            </a:avLst>
          </a:prstGeom>
          <a:solidFill>
            <a:srgbClr val="FFFDF8"/>
          </a:solidFill>
          <a:ln w="12600">
            <a:solidFill>
              <a:srgbClr val="FFFD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59" name="Shape 34"/>
          <p:cNvSpPr/>
          <p:nvPr/>
        </p:nvSpPr>
        <p:spPr>
          <a:xfrm>
            <a:off x="9266040" y="1820520"/>
            <a:ext cx="1023480" cy="99720"/>
          </a:xfrm>
          <a:prstGeom prst="roundRect">
            <a:avLst>
              <a:gd name="adj" fmla="val 36364"/>
            </a:avLst>
          </a:prstGeom>
          <a:solidFill>
            <a:srgbClr val="333333"/>
          </a:solidFill>
          <a:ln w="12600">
            <a:solidFill>
              <a:srgbClr val="3333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4200" rIns="90000" bIns="342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60" name="Shape 37"/>
          <p:cNvSpPr/>
          <p:nvPr/>
        </p:nvSpPr>
        <p:spPr>
          <a:xfrm>
            <a:off x="9747720" y="2154960"/>
            <a:ext cx="282240" cy="236160"/>
          </a:xfrm>
          <a:prstGeom prst="rect">
            <a:avLst/>
          </a:prstGeom>
          <a:solidFill>
            <a:srgbClr val="151515"/>
          </a:solidFill>
          <a:ln w="12600">
            <a:solidFill>
              <a:srgbClr val="1515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61" name="Text 39"/>
          <p:cNvSpPr/>
          <p:nvPr/>
        </p:nvSpPr>
        <p:spPr>
          <a:xfrm>
            <a:off x="8302320" y="2637360"/>
            <a:ext cx="3105000" cy="59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600" b="1" u="none" strike="noStrike">
                <a:solidFill>
                  <a:srgbClr val="113C3E"/>
                </a:solidFill>
                <a:effectLst/>
                <a:uFillTx/>
                <a:latin typeface="Noto Serif CJK TC"/>
                <a:ea typeface="Noto Serif CJK TC"/>
              </a:rPr>
              <a:t>比</a:t>
            </a:r>
            <a:r>
              <a:rPr lang="zh-CN" sz="1600" b="1" u="none" strike="noStrike">
                <a:solidFill>
                  <a:srgbClr val="113C3E"/>
                </a:solidFill>
                <a:effectLst/>
                <a:uFillTx/>
                <a:latin typeface="Noto Serif CJK TC"/>
                <a:ea typeface="Noto Serif CJK TC"/>
              </a:rPr>
              <a:t>完賽後，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TW" sz="1600" b="1" u="none" strike="noStrike">
                <a:solidFill>
                  <a:srgbClr val="113C3E"/>
                </a:solidFill>
                <a:effectLst/>
                <a:uFillTx/>
                <a:latin typeface="Noto Serif CJK TC"/>
                <a:ea typeface="Noto Serif CJK TC"/>
              </a:rPr>
              <a:t>如何恢復、應對</a:t>
            </a:r>
            <a:r>
              <a:rPr lang="zh-CN" sz="1600" b="1" u="none" strike="noStrike">
                <a:solidFill>
                  <a:srgbClr val="113C3E"/>
                </a:solidFill>
                <a:effectLst/>
                <a:uFillTx/>
                <a:latin typeface="Noto Serif CJK TC"/>
                <a:ea typeface="Noto Serif CJK TC"/>
              </a:rPr>
              <a:t>下一次訓練？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40"/>
          <p:cNvSpPr/>
          <p:nvPr/>
        </p:nvSpPr>
        <p:spPr>
          <a:xfrm>
            <a:off x="8507160" y="3301920"/>
            <a:ext cx="2422440" cy="383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80" b="1" u="none" strike="noStrike">
                <a:solidFill>
                  <a:srgbClr val="C76A43"/>
                </a:solidFill>
                <a:effectLst/>
                <a:uFillTx/>
                <a:latin typeface="Noto Sans CJK TC"/>
                <a:ea typeface="Noto Sans CJK TC"/>
              </a:rPr>
              <a:t>一段有流程的 </a:t>
            </a:r>
            <a:r>
              <a:rPr lang="en-US" sz="980" b="1" u="none" strike="noStrike">
                <a:solidFill>
                  <a:srgbClr val="C76A43"/>
                </a:solidFill>
                <a:effectLst/>
                <a:uFillTx/>
                <a:latin typeface="Noto Sans CJK TC"/>
                <a:ea typeface="Noto Sans CJK TC"/>
              </a:rPr>
              <a:t>30 </a:t>
            </a:r>
            <a:r>
              <a:rPr lang="zh-CN" sz="980" b="1" u="none" strike="noStrike">
                <a:solidFill>
                  <a:srgbClr val="C76A43"/>
                </a:solidFill>
                <a:effectLst/>
                <a:uFillTx/>
                <a:latin typeface="Noto Sans CJK TC"/>
                <a:ea typeface="Noto Sans CJK TC"/>
              </a:rPr>
              <a:t>分鐘智能恢復體驗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3" name="Image 0" descr="/mnt/data/重啟您的復原之旅.png"/>
          <p:cNvPicPr/>
          <p:nvPr/>
        </p:nvPicPr>
        <p:blipFill>
          <a:blip r:embed="rId4"/>
          <a:srcRect l="3726" r="3724"/>
          <a:stretch/>
        </p:blipFill>
        <p:spPr>
          <a:xfrm>
            <a:off x="8507160" y="3777480"/>
            <a:ext cx="2559600" cy="118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Shape 41"/>
          <p:cNvSpPr/>
          <p:nvPr/>
        </p:nvSpPr>
        <p:spPr>
          <a:xfrm>
            <a:off x="8598600" y="5240520"/>
            <a:ext cx="2331000" cy="474840"/>
          </a:xfrm>
          <a:prstGeom prst="roundRect">
            <a:avLst>
              <a:gd name="adj" fmla="val 15385"/>
            </a:avLst>
          </a:prstGeom>
          <a:solidFill>
            <a:srgbClr val="113C3E"/>
          </a:solidFill>
          <a:ln w="12600">
            <a:solidFill>
              <a:srgbClr val="113C3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65" name="Text 42"/>
          <p:cNvSpPr/>
          <p:nvPr/>
        </p:nvSpPr>
        <p:spPr>
          <a:xfrm>
            <a:off x="8671680" y="5258880"/>
            <a:ext cx="218484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1" u="none" strike="noStrike">
                <a:solidFill>
                  <a:srgbClr val="FFFEFA"/>
                </a:solidFill>
                <a:effectLst/>
                <a:uFillTx/>
                <a:latin typeface="Noto Sans CJK TC"/>
                <a:ea typeface="Noto Sans CJK TC"/>
              </a:rPr>
              <a:t>安排你的 </a:t>
            </a:r>
            <a:r>
              <a:rPr lang="en-US" sz="950" b="1" u="none" strike="noStrike">
                <a:solidFill>
                  <a:srgbClr val="FFFEFA"/>
                </a:solidFill>
                <a:effectLst/>
                <a:uFillTx/>
                <a:latin typeface="Noto Sans CJK TC"/>
                <a:ea typeface="Noto Sans CJK TC"/>
              </a:rPr>
              <a:t>30 </a:t>
            </a:r>
            <a:r>
              <a:rPr lang="zh-CN" sz="950" b="1" u="none" strike="noStrike">
                <a:solidFill>
                  <a:srgbClr val="FFFEFA"/>
                </a:solidFill>
                <a:effectLst/>
                <a:uFillTx/>
                <a:latin typeface="Noto Sans CJK TC"/>
                <a:ea typeface="Noto Sans CJK TC"/>
              </a:rPr>
              <a:t>分鐘重新開機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43"/>
          <p:cNvSpPr/>
          <p:nvPr/>
        </p:nvSpPr>
        <p:spPr>
          <a:xfrm>
            <a:off x="8625960" y="5825880"/>
            <a:ext cx="226692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75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了解流程  </a:t>
            </a:r>
            <a:r>
              <a:rPr lang="en-US" sz="75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·  </a:t>
            </a:r>
            <a:r>
              <a:rPr lang="zh-CN" sz="75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選擇時段  </a:t>
            </a:r>
            <a:r>
              <a:rPr lang="en-US" sz="75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·  </a:t>
            </a:r>
            <a:r>
              <a:rPr lang="zh-CN" sz="75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完成預約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44"/>
          <p:cNvSpPr/>
          <p:nvPr/>
        </p:nvSpPr>
        <p:spPr>
          <a:xfrm>
            <a:off x="594360" y="6510600"/>
            <a:ext cx="1097208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rgbClr val="FF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8" name="Text 45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C7473"/>
                </a:solidFill>
                <a:effectLst/>
                <a:uFillTx/>
                <a:latin typeface="Inter"/>
                <a:ea typeface="Inter"/>
              </a:rPr>
              <a:t>13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Rectangle 458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0" name="TextBox 459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460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Rectangle 461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3" name="TextBox 462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Rectangle 463"/>
          <p:cNvSpPr/>
          <p:nvPr/>
        </p:nvSpPr>
        <p:spPr>
          <a:xfrm>
            <a:off x="8796600" y="2157840"/>
            <a:ext cx="521280" cy="1695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5" name="TextBox 464"/>
          <p:cNvSpPr/>
          <p:nvPr/>
        </p:nvSpPr>
        <p:spPr>
          <a:xfrm>
            <a:off x="8796600" y="2169000"/>
            <a:ext cx="521280" cy="14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6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465"/>
          <p:cNvSpPr/>
          <p:nvPr/>
        </p:nvSpPr>
        <p:spPr>
          <a:xfrm>
            <a:off x="9331560" y="2178360"/>
            <a:ext cx="63360" cy="12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839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Rectangle 466"/>
          <p:cNvSpPr/>
          <p:nvPr/>
        </p:nvSpPr>
        <p:spPr>
          <a:xfrm>
            <a:off x="9408960" y="2157840"/>
            <a:ext cx="430560" cy="1695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8" name="TextBox 467"/>
          <p:cNvSpPr/>
          <p:nvPr/>
        </p:nvSpPr>
        <p:spPr>
          <a:xfrm>
            <a:off x="9477000" y="2193120"/>
            <a:ext cx="293760" cy="9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9" name="Picture 156" descr="enhanced_bg_14.jpg"/>
          <p:cNvPicPr/>
          <p:nvPr/>
        </p:nvPicPr>
        <p:blipFill>
          <a:blip r:embed="rId3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Shape 0"/>
          <p:cNvSpPr/>
          <p:nvPr/>
        </p:nvSpPr>
        <p:spPr>
          <a:xfrm>
            <a:off x="9235440" y="45720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81" name="Shape 1"/>
          <p:cNvSpPr/>
          <p:nvPr/>
        </p:nvSpPr>
        <p:spPr>
          <a:xfrm>
            <a:off x="9455040" y="45720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82" name="Shape 2"/>
          <p:cNvSpPr/>
          <p:nvPr/>
        </p:nvSpPr>
        <p:spPr>
          <a:xfrm>
            <a:off x="9674280" y="45720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83" name="Shape 3"/>
          <p:cNvSpPr/>
          <p:nvPr/>
        </p:nvSpPr>
        <p:spPr>
          <a:xfrm>
            <a:off x="9893880" y="45720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84" name="Shape 12"/>
          <p:cNvSpPr/>
          <p:nvPr/>
        </p:nvSpPr>
        <p:spPr>
          <a:xfrm>
            <a:off x="9235440" y="67680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85" name="Shape 13"/>
          <p:cNvSpPr/>
          <p:nvPr/>
        </p:nvSpPr>
        <p:spPr>
          <a:xfrm>
            <a:off x="9455040" y="67680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86" name="Shape 14"/>
          <p:cNvSpPr/>
          <p:nvPr/>
        </p:nvSpPr>
        <p:spPr>
          <a:xfrm>
            <a:off x="9674280" y="67680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87" name="Shape 15"/>
          <p:cNvSpPr/>
          <p:nvPr/>
        </p:nvSpPr>
        <p:spPr>
          <a:xfrm>
            <a:off x="9893880" y="67680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88" name="Shape 24"/>
          <p:cNvSpPr/>
          <p:nvPr/>
        </p:nvSpPr>
        <p:spPr>
          <a:xfrm>
            <a:off x="9235440" y="8960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89" name="Shape 25"/>
          <p:cNvSpPr/>
          <p:nvPr/>
        </p:nvSpPr>
        <p:spPr>
          <a:xfrm>
            <a:off x="9455040" y="8960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90" name="Shape 26"/>
          <p:cNvSpPr/>
          <p:nvPr/>
        </p:nvSpPr>
        <p:spPr>
          <a:xfrm>
            <a:off x="9674280" y="8960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91" name="Shape 27"/>
          <p:cNvSpPr/>
          <p:nvPr/>
        </p:nvSpPr>
        <p:spPr>
          <a:xfrm>
            <a:off x="9893880" y="8960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92" name="Shape 28"/>
          <p:cNvSpPr/>
          <p:nvPr/>
        </p:nvSpPr>
        <p:spPr>
          <a:xfrm>
            <a:off x="10113120" y="8960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93" name="Shape 29"/>
          <p:cNvSpPr/>
          <p:nvPr/>
        </p:nvSpPr>
        <p:spPr>
          <a:xfrm>
            <a:off x="10332720" y="8960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94" name="Shape 30"/>
          <p:cNvSpPr/>
          <p:nvPr/>
        </p:nvSpPr>
        <p:spPr>
          <a:xfrm>
            <a:off x="10552320" y="8960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95" name="Shape 31"/>
          <p:cNvSpPr/>
          <p:nvPr/>
        </p:nvSpPr>
        <p:spPr>
          <a:xfrm>
            <a:off x="10771560" y="8960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96" name="Shape 32"/>
          <p:cNvSpPr/>
          <p:nvPr/>
        </p:nvSpPr>
        <p:spPr>
          <a:xfrm>
            <a:off x="10991160" y="8960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97" name="Shape 33"/>
          <p:cNvSpPr/>
          <p:nvPr/>
        </p:nvSpPr>
        <p:spPr>
          <a:xfrm>
            <a:off x="11210400" y="8960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98" name="Shape 34"/>
          <p:cNvSpPr/>
          <p:nvPr/>
        </p:nvSpPr>
        <p:spPr>
          <a:xfrm>
            <a:off x="11430000" y="8960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499" name="Shape 35"/>
          <p:cNvSpPr/>
          <p:nvPr/>
        </p:nvSpPr>
        <p:spPr>
          <a:xfrm>
            <a:off x="11649600" y="8960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00" name="Shape 36"/>
          <p:cNvSpPr/>
          <p:nvPr/>
        </p:nvSpPr>
        <p:spPr>
          <a:xfrm>
            <a:off x="9235440" y="11156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01" name="Shape 37"/>
          <p:cNvSpPr/>
          <p:nvPr/>
        </p:nvSpPr>
        <p:spPr>
          <a:xfrm>
            <a:off x="9455040" y="11156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02" name="Shape 38"/>
          <p:cNvSpPr/>
          <p:nvPr/>
        </p:nvSpPr>
        <p:spPr>
          <a:xfrm>
            <a:off x="9674280" y="11156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03" name="Shape 39"/>
          <p:cNvSpPr/>
          <p:nvPr/>
        </p:nvSpPr>
        <p:spPr>
          <a:xfrm>
            <a:off x="9893880" y="11156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04" name="Shape 40"/>
          <p:cNvSpPr/>
          <p:nvPr/>
        </p:nvSpPr>
        <p:spPr>
          <a:xfrm>
            <a:off x="10113120" y="11156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05" name="Shape 41"/>
          <p:cNvSpPr/>
          <p:nvPr/>
        </p:nvSpPr>
        <p:spPr>
          <a:xfrm>
            <a:off x="10332720" y="11156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06" name="Shape 42"/>
          <p:cNvSpPr/>
          <p:nvPr/>
        </p:nvSpPr>
        <p:spPr>
          <a:xfrm>
            <a:off x="10552320" y="11156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07" name="Shape 43"/>
          <p:cNvSpPr/>
          <p:nvPr/>
        </p:nvSpPr>
        <p:spPr>
          <a:xfrm>
            <a:off x="10771560" y="11156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08" name="Shape 44"/>
          <p:cNvSpPr/>
          <p:nvPr/>
        </p:nvSpPr>
        <p:spPr>
          <a:xfrm>
            <a:off x="10991160" y="11156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09" name="Shape 45"/>
          <p:cNvSpPr/>
          <p:nvPr/>
        </p:nvSpPr>
        <p:spPr>
          <a:xfrm>
            <a:off x="11210400" y="11156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10" name="Shape 46"/>
          <p:cNvSpPr/>
          <p:nvPr/>
        </p:nvSpPr>
        <p:spPr>
          <a:xfrm>
            <a:off x="11430000" y="11156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11" name="Shape 47"/>
          <p:cNvSpPr/>
          <p:nvPr/>
        </p:nvSpPr>
        <p:spPr>
          <a:xfrm>
            <a:off x="11649600" y="111564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12" name="Shape 48"/>
          <p:cNvSpPr/>
          <p:nvPr/>
        </p:nvSpPr>
        <p:spPr>
          <a:xfrm>
            <a:off x="9235440" y="13348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13" name="Shape 49"/>
          <p:cNvSpPr/>
          <p:nvPr/>
        </p:nvSpPr>
        <p:spPr>
          <a:xfrm>
            <a:off x="9455040" y="13348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14" name="Shape 50"/>
          <p:cNvSpPr/>
          <p:nvPr/>
        </p:nvSpPr>
        <p:spPr>
          <a:xfrm>
            <a:off x="9674280" y="13348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15" name="Shape 51"/>
          <p:cNvSpPr/>
          <p:nvPr/>
        </p:nvSpPr>
        <p:spPr>
          <a:xfrm>
            <a:off x="9893880" y="13348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16" name="Shape 52"/>
          <p:cNvSpPr/>
          <p:nvPr/>
        </p:nvSpPr>
        <p:spPr>
          <a:xfrm>
            <a:off x="10113120" y="13348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17" name="Shape 53"/>
          <p:cNvSpPr/>
          <p:nvPr/>
        </p:nvSpPr>
        <p:spPr>
          <a:xfrm>
            <a:off x="10332720" y="13348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18" name="Shape 54"/>
          <p:cNvSpPr/>
          <p:nvPr/>
        </p:nvSpPr>
        <p:spPr>
          <a:xfrm>
            <a:off x="10552320" y="13348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19" name="Shape 55"/>
          <p:cNvSpPr/>
          <p:nvPr/>
        </p:nvSpPr>
        <p:spPr>
          <a:xfrm>
            <a:off x="10771560" y="13348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20" name="Shape 56"/>
          <p:cNvSpPr/>
          <p:nvPr/>
        </p:nvSpPr>
        <p:spPr>
          <a:xfrm>
            <a:off x="10991160" y="13348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21" name="Shape 57"/>
          <p:cNvSpPr/>
          <p:nvPr/>
        </p:nvSpPr>
        <p:spPr>
          <a:xfrm>
            <a:off x="11210400" y="13348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22" name="Shape 58"/>
          <p:cNvSpPr/>
          <p:nvPr/>
        </p:nvSpPr>
        <p:spPr>
          <a:xfrm>
            <a:off x="11430000" y="13348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23" name="Shape 59"/>
          <p:cNvSpPr/>
          <p:nvPr/>
        </p:nvSpPr>
        <p:spPr>
          <a:xfrm>
            <a:off x="11649600" y="13348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24" name="Shape 60"/>
          <p:cNvSpPr/>
          <p:nvPr/>
        </p:nvSpPr>
        <p:spPr>
          <a:xfrm>
            <a:off x="9235440" y="15544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25" name="Shape 61"/>
          <p:cNvSpPr/>
          <p:nvPr/>
        </p:nvSpPr>
        <p:spPr>
          <a:xfrm>
            <a:off x="9455040" y="15544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26" name="Shape 62"/>
          <p:cNvSpPr/>
          <p:nvPr/>
        </p:nvSpPr>
        <p:spPr>
          <a:xfrm>
            <a:off x="9674280" y="15544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27" name="Shape 63"/>
          <p:cNvSpPr/>
          <p:nvPr/>
        </p:nvSpPr>
        <p:spPr>
          <a:xfrm>
            <a:off x="9893880" y="15544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28" name="Shape 64"/>
          <p:cNvSpPr/>
          <p:nvPr/>
        </p:nvSpPr>
        <p:spPr>
          <a:xfrm>
            <a:off x="10113120" y="15544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29" name="Shape 65"/>
          <p:cNvSpPr/>
          <p:nvPr/>
        </p:nvSpPr>
        <p:spPr>
          <a:xfrm>
            <a:off x="10332720" y="15544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30" name="Shape 66"/>
          <p:cNvSpPr/>
          <p:nvPr/>
        </p:nvSpPr>
        <p:spPr>
          <a:xfrm>
            <a:off x="10552320" y="15544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31" name="Shape 67"/>
          <p:cNvSpPr/>
          <p:nvPr/>
        </p:nvSpPr>
        <p:spPr>
          <a:xfrm>
            <a:off x="10771560" y="15544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32" name="Shape 68"/>
          <p:cNvSpPr/>
          <p:nvPr/>
        </p:nvSpPr>
        <p:spPr>
          <a:xfrm>
            <a:off x="10991160" y="15544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33" name="Shape 69"/>
          <p:cNvSpPr/>
          <p:nvPr/>
        </p:nvSpPr>
        <p:spPr>
          <a:xfrm>
            <a:off x="11210400" y="15544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34" name="Shape 70"/>
          <p:cNvSpPr/>
          <p:nvPr/>
        </p:nvSpPr>
        <p:spPr>
          <a:xfrm>
            <a:off x="11430000" y="15544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35" name="Shape 71"/>
          <p:cNvSpPr/>
          <p:nvPr/>
        </p:nvSpPr>
        <p:spPr>
          <a:xfrm>
            <a:off x="11649600" y="15544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36" name="Shape 72"/>
          <p:cNvSpPr/>
          <p:nvPr/>
        </p:nvSpPr>
        <p:spPr>
          <a:xfrm>
            <a:off x="9235440" y="17740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37" name="Shape 73"/>
          <p:cNvSpPr/>
          <p:nvPr/>
        </p:nvSpPr>
        <p:spPr>
          <a:xfrm>
            <a:off x="9455040" y="17740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38" name="Shape 74"/>
          <p:cNvSpPr/>
          <p:nvPr/>
        </p:nvSpPr>
        <p:spPr>
          <a:xfrm>
            <a:off x="9674280" y="17740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39" name="Shape 75"/>
          <p:cNvSpPr/>
          <p:nvPr/>
        </p:nvSpPr>
        <p:spPr>
          <a:xfrm>
            <a:off x="9893880" y="17740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40" name="Shape 76"/>
          <p:cNvSpPr/>
          <p:nvPr/>
        </p:nvSpPr>
        <p:spPr>
          <a:xfrm>
            <a:off x="10113120" y="17740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41" name="Shape 77"/>
          <p:cNvSpPr/>
          <p:nvPr/>
        </p:nvSpPr>
        <p:spPr>
          <a:xfrm>
            <a:off x="10332720" y="17740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42" name="Shape 78"/>
          <p:cNvSpPr/>
          <p:nvPr/>
        </p:nvSpPr>
        <p:spPr>
          <a:xfrm>
            <a:off x="10552320" y="17740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43" name="Shape 79"/>
          <p:cNvSpPr/>
          <p:nvPr/>
        </p:nvSpPr>
        <p:spPr>
          <a:xfrm>
            <a:off x="10771560" y="17740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44" name="Shape 80"/>
          <p:cNvSpPr/>
          <p:nvPr/>
        </p:nvSpPr>
        <p:spPr>
          <a:xfrm>
            <a:off x="10991160" y="17740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45" name="Shape 81"/>
          <p:cNvSpPr/>
          <p:nvPr/>
        </p:nvSpPr>
        <p:spPr>
          <a:xfrm>
            <a:off x="11210400" y="17740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46" name="Shape 82"/>
          <p:cNvSpPr/>
          <p:nvPr/>
        </p:nvSpPr>
        <p:spPr>
          <a:xfrm>
            <a:off x="11430000" y="17740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47" name="Shape 83"/>
          <p:cNvSpPr/>
          <p:nvPr/>
        </p:nvSpPr>
        <p:spPr>
          <a:xfrm>
            <a:off x="11649600" y="1774080"/>
            <a:ext cx="22320" cy="22320"/>
          </a:xfrm>
          <a:prstGeom prst="ellipse">
            <a:avLst/>
          </a:prstGeom>
          <a:solidFill>
            <a:srgbClr val="7BB9B3">
              <a:alpha val="35000"/>
            </a:srgbClr>
          </a:solidFill>
          <a:ln w="12600">
            <a:solidFill>
              <a:srgbClr val="7BB9B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8800" rIns="90000" bIns="-288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48" name="Text 84"/>
          <p:cNvSpPr/>
          <p:nvPr/>
        </p:nvSpPr>
        <p:spPr>
          <a:xfrm>
            <a:off x="594360" y="32904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14  ·  </a:t>
            </a:r>
            <a:r>
              <a:rPr lang="zh-CN" sz="10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整合行銷漏斗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89"/>
          <p:cNvSpPr/>
          <p:nvPr/>
        </p:nvSpPr>
        <p:spPr>
          <a:xfrm>
            <a:off x="594360" y="804600"/>
            <a:ext cx="768024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7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從搜尋到預約的整合行銷漏斗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90"/>
          <p:cNvSpPr/>
          <p:nvPr/>
        </p:nvSpPr>
        <p:spPr>
          <a:xfrm>
            <a:off x="594360" y="1417320"/>
            <a:ext cx="11000160" cy="360"/>
          </a:xfrm>
          <a:prstGeom prst="line">
            <a:avLst/>
          </a:prstGeom>
          <a:ln w="176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51" name="Text 91"/>
          <p:cNvSpPr/>
          <p:nvPr/>
        </p:nvSpPr>
        <p:spPr>
          <a:xfrm>
            <a:off x="594360" y="1609200"/>
            <a:ext cx="731448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320" b="1" u="none" strike="noStrike" dirty="0">
                <a:solidFill>
                  <a:schemeClr val="bg1"/>
                </a:solidFill>
                <a:effectLst/>
                <a:uFillTx/>
                <a:latin typeface="Noto Sans CJK TC"/>
                <a:ea typeface="Noto Sans CJK TC"/>
              </a:rPr>
              <a:t>搜尋內容找到人，現場感受人，大 </a:t>
            </a:r>
            <a:r>
              <a:rPr lang="en-US" sz="1320" b="1" u="none" strike="noStrike" dirty="0">
                <a:solidFill>
                  <a:schemeClr val="bg1"/>
                </a:solidFill>
                <a:effectLst/>
                <a:uFillTx/>
                <a:latin typeface="Noto Sans CJK TC"/>
                <a:ea typeface="Noto Sans CJK TC"/>
              </a:rPr>
              <a:t>H </a:t>
            </a:r>
            <a:r>
              <a:rPr lang="zh-CN" sz="1320" b="1" u="none" strike="noStrike" dirty="0">
                <a:solidFill>
                  <a:schemeClr val="bg1"/>
                </a:solidFill>
                <a:effectLst/>
                <a:uFillTx/>
                <a:latin typeface="Noto Sans CJK TC"/>
                <a:ea typeface="Noto Sans CJK TC"/>
              </a:rPr>
              <a:t>說服人，</a:t>
            </a:r>
            <a:r>
              <a:rPr lang="en-US" sz="1320" b="1" u="none" strike="noStrike" dirty="0">
                <a:solidFill>
                  <a:schemeClr val="bg1"/>
                </a:solidFill>
                <a:effectLst/>
                <a:uFillTx/>
                <a:latin typeface="Noto Sans CJK TC"/>
                <a:ea typeface="Noto Sans CJK TC"/>
              </a:rPr>
              <a:t>REBOOT </a:t>
            </a:r>
            <a:r>
              <a:rPr lang="zh-CN" sz="1320" b="1" u="none" strike="noStrike" dirty="0">
                <a:solidFill>
                  <a:schemeClr val="bg1"/>
                </a:solidFill>
                <a:effectLst/>
                <a:uFillTx/>
                <a:latin typeface="Noto Sans CJK TC"/>
                <a:ea typeface="Noto Sans CJK TC"/>
              </a:rPr>
              <a:t>留住人。</a:t>
            </a:r>
            <a:endParaRPr lang="en-US" sz="132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92"/>
          <p:cNvSpPr/>
          <p:nvPr/>
        </p:nvSpPr>
        <p:spPr>
          <a:xfrm>
            <a:off x="594360" y="2240280"/>
            <a:ext cx="2513880" cy="2331000"/>
          </a:xfrm>
          <a:prstGeom prst="chevron">
            <a:avLst>
              <a:gd name="adj" fmla="val 50000"/>
            </a:avLst>
          </a:prstGeom>
          <a:solidFill>
            <a:srgbClr val="D0DBE4"/>
          </a:solidFill>
          <a:ln w="12600">
            <a:solidFill>
              <a:srgbClr val="D0DBE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53" name="Oval 151"/>
          <p:cNvSpPr/>
          <p:nvPr/>
        </p:nvSpPr>
        <p:spPr>
          <a:xfrm>
            <a:off x="722520" y="2450520"/>
            <a:ext cx="529560" cy="529560"/>
          </a:xfrm>
          <a:prstGeom prst="ellipse">
            <a:avLst/>
          </a:prstGeom>
          <a:solidFill>
            <a:srgbClr val="FFFFFF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554" name="Image 0" descr="preencoded.png"/>
          <p:cNvPicPr/>
          <p:nvPr/>
        </p:nvPicPr>
        <p:blipFill>
          <a:blip r:embed="rId4"/>
          <a:stretch/>
        </p:blipFill>
        <p:spPr>
          <a:xfrm>
            <a:off x="795600" y="254196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5" name="Text 93"/>
          <p:cNvSpPr/>
          <p:nvPr/>
        </p:nvSpPr>
        <p:spPr>
          <a:xfrm>
            <a:off x="1252800" y="245988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A3B3E"/>
                </a:solidFill>
                <a:effectLst/>
                <a:uFillTx/>
                <a:latin typeface="Inter"/>
                <a:ea typeface="Inter"/>
              </a:rPr>
              <a:t>01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94"/>
          <p:cNvSpPr/>
          <p:nvPr/>
        </p:nvSpPr>
        <p:spPr>
          <a:xfrm>
            <a:off x="795600" y="2926080"/>
            <a:ext cx="19652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0A3B3E"/>
                </a:solidFill>
                <a:effectLst/>
                <a:uFillTx/>
                <a:latin typeface="Noto Sans CJK TC"/>
                <a:ea typeface="Noto Sans CJK TC"/>
              </a:rPr>
              <a:t>需求攔截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95"/>
          <p:cNvSpPr/>
          <p:nvPr/>
        </p:nvSpPr>
        <p:spPr>
          <a:xfrm>
            <a:off x="795600" y="3401640"/>
            <a:ext cx="1901160" cy="74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1" u="none" strike="noStrike">
                <a:solidFill>
                  <a:srgbClr val="0A3B3E"/>
                </a:solidFill>
                <a:effectLst/>
                <a:uFillTx/>
                <a:latin typeface="Noto Sans CJK TC"/>
                <a:ea typeface="DejaVu Sans"/>
              </a:rPr>
              <a:t>以「肌肉痠痛、運動疲勞」等痛點關鍵字，搭配搜尋內容與短影音導流。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96"/>
          <p:cNvSpPr/>
          <p:nvPr/>
        </p:nvSpPr>
        <p:spPr>
          <a:xfrm>
            <a:off x="704160" y="4782240"/>
            <a:ext cx="959400" cy="291960"/>
          </a:xfrm>
          <a:prstGeom prst="roundRect">
            <a:avLst>
              <a:gd name="adj" fmla="val 25000"/>
            </a:avLst>
          </a:prstGeom>
          <a:solidFill>
            <a:srgbClr val="EDE5D8"/>
          </a:solidFill>
          <a:ln w="12600">
            <a:solidFill>
              <a:srgbClr val="EDE5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59" name="Text 97"/>
          <p:cNvSpPr/>
          <p:nvPr/>
        </p:nvSpPr>
        <p:spPr>
          <a:xfrm>
            <a:off x="777240" y="4800600"/>
            <a:ext cx="813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搜尋文章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98"/>
          <p:cNvSpPr/>
          <p:nvPr/>
        </p:nvSpPr>
        <p:spPr>
          <a:xfrm>
            <a:off x="1774080" y="4782240"/>
            <a:ext cx="959400" cy="291960"/>
          </a:xfrm>
          <a:prstGeom prst="roundRect">
            <a:avLst>
              <a:gd name="adj" fmla="val 25000"/>
            </a:avLst>
          </a:prstGeom>
          <a:solidFill>
            <a:srgbClr val="EDE5D8"/>
          </a:solidFill>
          <a:ln w="12600">
            <a:solidFill>
              <a:srgbClr val="EDE5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61" name="Text 99"/>
          <p:cNvSpPr/>
          <p:nvPr/>
        </p:nvSpPr>
        <p:spPr>
          <a:xfrm>
            <a:off x="1847160" y="4800600"/>
            <a:ext cx="813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大 </a:t>
            </a:r>
            <a:r>
              <a:rPr lang="en-US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H </a:t>
            </a: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短影音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100"/>
          <p:cNvSpPr/>
          <p:nvPr/>
        </p:nvSpPr>
        <p:spPr>
          <a:xfrm>
            <a:off x="3364920" y="2240280"/>
            <a:ext cx="2513880" cy="2331000"/>
          </a:xfrm>
          <a:prstGeom prst="chevron">
            <a:avLst>
              <a:gd name="adj" fmla="val 50000"/>
            </a:avLst>
          </a:prstGeom>
          <a:solidFill>
            <a:srgbClr val="C0E2E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563" name="Image 1" descr="preencoded.png"/>
          <p:cNvPicPr/>
          <p:nvPr/>
        </p:nvPicPr>
        <p:blipFill>
          <a:blip r:embed="rId5"/>
          <a:stretch/>
        </p:blipFill>
        <p:spPr>
          <a:xfrm>
            <a:off x="3566160" y="254196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4" name="Text 101"/>
          <p:cNvSpPr/>
          <p:nvPr/>
        </p:nvSpPr>
        <p:spPr>
          <a:xfrm>
            <a:off x="4023360" y="245988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2B2E"/>
                </a:solidFill>
                <a:effectLst/>
                <a:uFillTx/>
                <a:latin typeface="Inter"/>
                <a:ea typeface="Inter"/>
              </a:rPr>
              <a:t>02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102"/>
          <p:cNvSpPr/>
          <p:nvPr/>
        </p:nvSpPr>
        <p:spPr>
          <a:xfrm>
            <a:off x="3566160" y="2926080"/>
            <a:ext cx="19652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Noto Sans CJK TC"/>
              </a:rPr>
              <a:t>現場接觸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103"/>
          <p:cNvSpPr/>
          <p:nvPr/>
        </p:nvSpPr>
        <p:spPr>
          <a:xfrm>
            <a:off x="3566160" y="3401640"/>
            <a:ext cx="1901160" cy="74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6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Noto Sans CJK TC"/>
              </a:rPr>
              <a:t>HYROX </a:t>
            </a:r>
            <a:r>
              <a:rPr lang="zh-CN" sz="96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Noto Sans CJK TC"/>
              </a:rPr>
              <a:t>現場 恢復體驗區 實體互動，透過 </a:t>
            </a:r>
            <a:r>
              <a:rPr lang="en-US" sz="96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Noto Sans CJK TC"/>
              </a:rPr>
              <a:t>QR </a:t>
            </a:r>
            <a:r>
              <a:rPr lang="zh-CN" sz="96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Noto Sans CJK TC"/>
              </a:rPr>
              <a:t>碼 將流量導入數位追蹤。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104"/>
          <p:cNvSpPr/>
          <p:nvPr/>
        </p:nvSpPr>
        <p:spPr>
          <a:xfrm>
            <a:off x="3474720" y="4782240"/>
            <a:ext cx="959400" cy="291960"/>
          </a:xfrm>
          <a:prstGeom prst="roundRect">
            <a:avLst>
              <a:gd name="adj" fmla="val 25000"/>
            </a:avLst>
          </a:prstGeom>
          <a:solidFill>
            <a:srgbClr val="EDE5D8"/>
          </a:solidFill>
          <a:ln w="12600">
            <a:solidFill>
              <a:srgbClr val="EDE5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68" name="Text 105"/>
          <p:cNvSpPr/>
          <p:nvPr/>
        </p:nvSpPr>
        <p:spPr>
          <a:xfrm>
            <a:off x="3547800" y="4800600"/>
            <a:ext cx="813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現場 </a:t>
            </a:r>
            <a:r>
              <a:rPr lang="en-US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QR </a:t>
            </a: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碼 碼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106"/>
          <p:cNvSpPr/>
          <p:nvPr/>
        </p:nvSpPr>
        <p:spPr>
          <a:xfrm>
            <a:off x="4544640" y="4782240"/>
            <a:ext cx="959400" cy="291960"/>
          </a:xfrm>
          <a:prstGeom prst="roundRect">
            <a:avLst>
              <a:gd name="adj" fmla="val 25000"/>
            </a:avLst>
          </a:prstGeom>
          <a:solidFill>
            <a:srgbClr val="EDE5D8"/>
          </a:solidFill>
          <a:ln w="12600">
            <a:solidFill>
              <a:srgbClr val="EDE5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70" name="Text 107"/>
          <p:cNvSpPr/>
          <p:nvPr/>
        </p:nvSpPr>
        <p:spPr>
          <a:xfrm>
            <a:off x="4617720" y="4800600"/>
            <a:ext cx="813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互動問答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108"/>
          <p:cNvSpPr/>
          <p:nvPr/>
        </p:nvSpPr>
        <p:spPr>
          <a:xfrm>
            <a:off x="6135480" y="2240280"/>
            <a:ext cx="2513880" cy="2331000"/>
          </a:xfrm>
          <a:prstGeom prst="chevron">
            <a:avLst>
              <a:gd name="adj" fmla="val 50000"/>
            </a:avLst>
          </a:prstGeom>
          <a:solidFill>
            <a:srgbClr val="DFA384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572" name="Image 2" descr="preencoded.png"/>
          <p:cNvPicPr/>
          <p:nvPr/>
        </p:nvPicPr>
        <p:blipFill>
          <a:blip r:embed="rId6"/>
          <a:stretch/>
        </p:blipFill>
        <p:spPr>
          <a:xfrm>
            <a:off x="6336720" y="254196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3" name="Text 109"/>
          <p:cNvSpPr/>
          <p:nvPr/>
        </p:nvSpPr>
        <p:spPr>
          <a:xfrm>
            <a:off x="6793920" y="245988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2B2E"/>
                </a:solidFill>
                <a:effectLst/>
                <a:uFillTx/>
                <a:latin typeface="Inter"/>
                <a:ea typeface="Inter"/>
              </a:rPr>
              <a:t>03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10"/>
          <p:cNvSpPr/>
          <p:nvPr/>
        </p:nvSpPr>
        <p:spPr>
          <a:xfrm>
            <a:off x="6336720" y="2926080"/>
            <a:ext cx="19652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Noto Sans CJK TC"/>
              </a:rPr>
              <a:t>信任建立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11"/>
          <p:cNvSpPr/>
          <p:nvPr/>
        </p:nvSpPr>
        <p:spPr>
          <a:xfrm>
            <a:off x="6336720" y="3401640"/>
            <a:ext cx="1901160" cy="74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6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Noto Sans CJK TC"/>
              </a:rPr>
              <a:t>活動預約頁 呈現大 </a:t>
            </a:r>
            <a:r>
              <a:rPr lang="en-US" sz="96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Noto Sans CJK TC"/>
              </a:rPr>
              <a:t>H </a:t>
            </a:r>
            <a:r>
              <a:rPr lang="zh-CN" sz="96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Noto Sans CJK TC"/>
              </a:rPr>
              <a:t>內容與專業恢復流程，降低高單價科技服務的疑慮。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112"/>
          <p:cNvSpPr/>
          <p:nvPr/>
        </p:nvSpPr>
        <p:spPr>
          <a:xfrm>
            <a:off x="6245280" y="4782240"/>
            <a:ext cx="959400" cy="291960"/>
          </a:xfrm>
          <a:prstGeom prst="roundRect">
            <a:avLst>
              <a:gd name="adj" fmla="val 25000"/>
            </a:avLst>
          </a:prstGeom>
          <a:solidFill>
            <a:srgbClr val="EDE5D8"/>
          </a:solidFill>
          <a:ln w="12600">
            <a:solidFill>
              <a:srgbClr val="EDE5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77" name="Text 113"/>
          <p:cNvSpPr/>
          <p:nvPr/>
        </p:nvSpPr>
        <p:spPr>
          <a:xfrm>
            <a:off x="6318360" y="4800600"/>
            <a:ext cx="813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活動預約頁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114"/>
          <p:cNvSpPr/>
          <p:nvPr/>
        </p:nvSpPr>
        <p:spPr>
          <a:xfrm>
            <a:off x="7315200" y="4782240"/>
            <a:ext cx="959400" cy="291960"/>
          </a:xfrm>
          <a:prstGeom prst="roundRect">
            <a:avLst>
              <a:gd name="adj" fmla="val 25000"/>
            </a:avLst>
          </a:prstGeom>
          <a:solidFill>
            <a:srgbClr val="EDE5D8"/>
          </a:solidFill>
          <a:ln w="12600">
            <a:solidFill>
              <a:srgbClr val="EDE5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79" name="Text 115"/>
          <p:cNvSpPr/>
          <p:nvPr/>
        </p:nvSpPr>
        <p:spPr>
          <a:xfrm>
            <a:off x="7388280" y="4800600"/>
            <a:ext cx="813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zh-CN" sz="820" b="1" dirty="0">
                <a:solidFill>
                  <a:srgbClr val="113C3E"/>
                </a:solidFill>
                <a:latin typeface="Noto Sans CJK TC"/>
                <a:ea typeface="Noto Sans CJK TC"/>
              </a:rPr>
              <a:t>KOL</a:t>
            </a:r>
            <a:r>
              <a:rPr lang="zh-CN" sz="820" b="1" u="none" strike="noStrike" dirty="0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背書</a:t>
            </a:r>
            <a:endParaRPr lang="en-US" sz="8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116"/>
          <p:cNvSpPr/>
          <p:nvPr/>
        </p:nvSpPr>
        <p:spPr>
          <a:xfrm>
            <a:off x="8906400" y="2240280"/>
            <a:ext cx="2513880" cy="2331000"/>
          </a:xfrm>
          <a:prstGeom prst="chevron">
            <a:avLst>
              <a:gd name="adj" fmla="val 50000"/>
            </a:avLst>
          </a:prstGeom>
          <a:solidFill>
            <a:srgbClr val="D6C270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581" name="Image 3" descr="preencoded.png"/>
          <p:cNvPicPr/>
          <p:nvPr/>
        </p:nvPicPr>
        <p:blipFill>
          <a:blip r:embed="rId7"/>
          <a:stretch/>
        </p:blipFill>
        <p:spPr>
          <a:xfrm>
            <a:off x="9107280" y="2541960"/>
            <a:ext cx="383400" cy="3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Text 117"/>
          <p:cNvSpPr/>
          <p:nvPr/>
        </p:nvSpPr>
        <p:spPr>
          <a:xfrm>
            <a:off x="9564480" y="2459880"/>
            <a:ext cx="502200" cy="22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82B2E"/>
                </a:solidFill>
                <a:effectLst/>
                <a:uFillTx/>
                <a:latin typeface="Inter"/>
                <a:ea typeface="Inter"/>
              </a:rPr>
              <a:t>04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118"/>
          <p:cNvSpPr/>
          <p:nvPr/>
        </p:nvSpPr>
        <p:spPr>
          <a:xfrm>
            <a:off x="9107280" y="2926080"/>
            <a:ext cx="1965240" cy="34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Noto Sans CJK TC"/>
              </a:rPr>
              <a:t>行動轉化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119"/>
          <p:cNvSpPr/>
          <p:nvPr/>
        </p:nvSpPr>
        <p:spPr>
          <a:xfrm>
            <a:off x="9107280" y="3401640"/>
            <a:ext cx="1901160" cy="74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6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Noto Sans CJK TC"/>
              </a:rPr>
              <a:t>行動呼籲聚焦「</a:t>
            </a:r>
            <a:r>
              <a:rPr lang="en-US" sz="96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Noto Sans CJK TC"/>
              </a:rPr>
              <a:t>30 </a:t>
            </a:r>
            <a:r>
              <a:rPr lang="zh-CN" sz="96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Noto Sans CJK TC"/>
              </a:rPr>
              <a:t>分鐘重新開機挑戰」，完成預約並透過再行銷延續關係。</a:t>
            </a:r>
            <a:endParaRPr lang="en-US" sz="9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120"/>
          <p:cNvSpPr/>
          <p:nvPr/>
        </p:nvSpPr>
        <p:spPr>
          <a:xfrm>
            <a:off x="9015840" y="4782240"/>
            <a:ext cx="959400" cy="291960"/>
          </a:xfrm>
          <a:prstGeom prst="roundRect">
            <a:avLst>
              <a:gd name="adj" fmla="val 25000"/>
            </a:avLst>
          </a:prstGeom>
          <a:solidFill>
            <a:srgbClr val="EDE5D8"/>
          </a:solidFill>
          <a:ln w="12600">
            <a:solidFill>
              <a:srgbClr val="EDE5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86" name="Text 121"/>
          <p:cNvSpPr/>
          <p:nvPr/>
        </p:nvSpPr>
        <p:spPr>
          <a:xfrm>
            <a:off x="9089280" y="4800600"/>
            <a:ext cx="813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預約表單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122"/>
          <p:cNvSpPr/>
          <p:nvPr/>
        </p:nvSpPr>
        <p:spPr>
          <a:xfrm>
            <a:off x="10085760" y="4782240"/>
            <a:ext cx="959400" cy="291960"/>
          </a:xfrm>
          <a:prstGeom prst="roundRect">
            <a:avLst>
              <a:gd name="adj" fmla="val 25000"/>
            </a:avLst>
          </a:prstGeom>
          <a:solidFill>
            <a:srgbClr val="EDE5D8"/>
          </a:solidFill>
          <a:ln w="12600">
            <a:solidFill>
              <a:srgbClr val="EDE5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88" name="Text 123"/>
          <p:cNvSpPr/>
          <p:nvPr/>
        </p:nvSpPr>
        <p:spPr>
          <a:xfrm>
            <a:off x="10158840" y="4800600"/>
            <a:ext cx="8132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再行銷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124"/>
          <p:cNvSpPr/>
          <p:nvPr/>
        </p:nvSpPr>
        <p:spPr>
          <a:xfrm>
            <a:off x="594360" y="5358240"/>
            <a:ext cx="10999440" cy="749160"/>
          </a:xfrm>
          <a:prstGeom prst="roundRect">
            <a:avLst>
              <a:gd name="adj" fmla="val 7317"/>
            </a:avLst>
          </a:prstGeom>
          <a:solidFill>
            <a:srgbClr val="FFFEFA"/>
          </a:solidFill>
          <a:ln w="10080">
            <a:solidFill>
              <a:srgbClr val="DED1B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90" name="Text 125"/>
          <p:cNvSpPr/>
          <p:nvPr/>
        </p:nvSpPr>
        <p:spPr>
          <a:xfrm>
            <a:off x="804600" y="5523120"/>
            <a:ext cx="123372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GA4 </a:t>
            </a:r>
            <a:r>
              <a:rPr lang="zh-CN" sz="85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事件路徑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Shape 126"/>
          <p:cNvSpPr/>
          <p:nvPr/>
        </p:nvSpPr>
        <p:spPr>
          <a:xfrm>
            <a:off x="1993320" y="5477400"/>
            <a:ext cx="1370880" cy="291960"/>
          </a:xfrm>
          <a:prstGeom prst="roundRect">
            <a:avLst>
              <a:gd name="adj" fmla="val 25000"/>
            </a:avLst>
          </a:prstGeom>
          <a:solidFill>
            <a:srgbClr val="E4EEEA"/>
          </a:solidFill>
          <a:ln w="12600">
            <a:solidFill>
              <a:srgbClr val="E4E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92" name="Text 127"/>
          <p:cNvSpPr/>
          <p:nvPr/>
        </p:nvSpPr>
        <p:spPr>
          <a:xfrm>
            <a:off x="2066400" y="5495400"/>
            <a:ext cx="1224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DejaVu Sans"/>
              </a:rPr>
              <a:t>頁面瀏覽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3" name="Image 4" descr="preencoded.png"/>
          <p:cNvPicPr/>
          <p:nvPr/>
        </p:nvPicPr>
        <p:blipFill>
          <a:blip r:embed="rId8"/>
          <a:stretch/>
        </p:blipFill>
        <p:spPr>
          <a:xfrm>
            <a:off x="3410640" y="5541120"/>
            <a:ext cx="136440" cy="13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4" name="Shape 128"/>
          <p:cNvSpPr/>
          <p:nvPr/>
        </p:nvSpPr>
        <p:spPr>
          <a:xfrm>
            <a:off x="3566160" y="5477400"/>
            <a:ext cx="1370880" cy="291960"/>
          </a:xfrm>
          <a:prstGeom prst="roundRect">
            <a:avLst>
              <a:gd name="adj" fmla="val 25000"/>
            </a:avLst>
          </a:prstGeom>
          <a:solidFill>
            <a:srgbClr val="EFE6D6"/>
          </a:solidFill>
          <a:ln w="12600">
            <a:solidFill>
              <a:srgbClr val="EFE6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95" name="Text 129"/>
          <p:cNvSpPr/>
          <p:nvPr/>
        </p:nvSpPr>
        <p:spPr>
          <a:xfrm>
            <a:off x="3639240" y="5495400"/>
            <a:ext cx="1224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DejaVu Sans"/>
              </a:rPr>
              <a:t>影片看完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6" name="Image 5" descr="preencoded.png"/>
          <p:cNvPicPr/>
          <p:nvPr/>
        </p:nvPicPr>
        <p:blipFill>
          <a:blip r:embed="rId8"/>
          <a:stretch/>
        </p:blipFill>
        <p:spPr>
          <a:xfrm>
            <a:off x="4983480" y="5541120"/>
            <a:ext cx="136440" cy="13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7" name="Shape 130"/>
          <p:cNvSpPr/>
          <p:nvPr/>
        </p:nvSpPr>
        <p:spPr>
          <a:xfrm>
            <a:off x="5139000" y="5477400"/>
            <a:ext cx="1370880" cy="291960"/>
          </a:xfrm>
          <a:prstGeom prst="roundRect">
            <a:avLst>
              <a:gd name="adj" fmla="val 25000"/>
            </a:avLst>
          </a:prstGeom>
          <a:solidFill>
            <a:srgbClr val="E4EEEA"/>
          </a:solidFill>
          <a:ln w="12600">
            <a:solidFill>
              <a:srgbClr val="E4E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598" name="Text 131"/>
          <p:cNvSpPr/>
          <p:nvPr/>
        </p:nvSpPr>
        <p:spPr>
          <a:xfrm>
            <a:off x="5212080" y="5495400"/>
            <a:ext cx="1224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DejaVu Sans"/>
              </a:rPr>
              <a:t>掃描 </a:t>
            </a:r>
            <a:r>
              <a:rPr lang="en-US" sz="90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DejaVu Sans"/>
              </a:rPr>
              <a:t>QR </a:t>
            </a:r>
            <a:r>
              <a:rPr lang="zh-CN" sz="90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DejaVu Sans"/>
              </a:rPr>
              <a:t>碼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9" name="Image 6" descr="preencoded.png"/>
          <p:cNvPicPr/>
          <p:nvPr/>
        </p:nvPicPr>
        <p:blipFill>
          <a:blip r:embed="rId8"/>
          <a:stretch/>
        </p:blipFill>
        <p:spPr>
          <a:xfrm>
            <a:off x="6556320" y="5541120"/>
            <a:ext cx="136440" cy="13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0" name="Shape 132"/>
          <p:cNvSpPr/>
          <p:nvPr/>
        </p:nvSpPr>
        <p:spPr>
          <a:xfrm>
            <a:off x="6711840" y="5477400"/>
            <a:ext cx="1370880" cy="291960"/>
          </a:xfrm>
          <a:prstGeom prst="roundRect">
            <a:avLst>
              <a:gd name="adj" fmla="val 25000"/>
            </a:avLst>
          </a:prstGeom>
          <a:solidFill>
            <a:srgbClr val="EFE6D6"/>
          </a:solidFill>
          <a:ln w="12600">
            <a:solidFill>
              <a:srgbClr val="EFE6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01" name="Text 133"/>
          <p:cNvSpPr/>
          <p:nvPr/>
        </p:nvSpPr>
        <p:spPr>
          <a:xfrm>
            <a:off x="6784920" y="5495400"/>
            <a:ext cx="1224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DejaVu Sans"/>
              </a:rPr>
              <a:t>查看體驗資訊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2" name="Image 7" descr="preencoded.png"/>
          <p:cNvPicPr/>
          <p:nvPr/>
        </p:nvPicPr>
        <p:blipFill>
          <a:blip r:embed="rId8"/>
          <a:stretch/>
        </p:blipFill>
        <p:spPr>
          <a:xfrm>
            <a:off x="8129160" y="5541120"/>
            <a:ext cx="136440" cy="13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Shape 134"/>
          <p:cNvSpPr/>
          <p:nvPr/>
        </p:nvSpPr>
        <p:spPr>
          <a:xfrm>
            <a:off x="8284320" y="5477400"/>
            <a:ext cx="1370880" cy="291960"/>
          </a:xfrm>
          <a:prstGeom prst="roundRect">
            <a:avLst>
              <a:gd name="adj" fmla="val 25000"/>
            </a:avLst>
          </a:prstGeom>
          <a:solidFill>
            <a:srgbClr val="E4EEEA"/>
          </a:solidFill>
          <a:ln w="12600">
            <a:solidFill>
              <a:srgbClr val="E4EE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04" name="Text 135"/>
          <p:cNvSpPr/>
          <p:nvPr/>
        </p:nvSpPr>
        <p:spPr>
          <a:xfrm>
            <a:off x="8357760" y="5495400"/>
            <a:ext cx="1224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DejaVu Sans"/>
              </a:rPr>
              <a:t>開始預約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5" name="Image 8" descr="preencoded.png"/>
          <p:cNvPicPr/>
          <p:nvPr/>
        </p:nvPicPr>
        <p:blipFill>
          <a:blip r:embed="rId8"/>
          <a:stretch/>
        </p:blipFill>
        <p:spPr>
          <a:xfrm>
            <a:off x="9701640" y="5541120"/>
            <a:ext cx="136440" cy="13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6" name="Shape 136"/>
          <p:cNvSpPr/>
          <p:nvPr/>
        </p:nvSpPr>
        <p:spPr>
          <a:xfrm>
            <a:off x="9857160" y="5477400"/>
            <a:ext cx="1370880" cy="291960"/>
          </a:xfrm>
          <a:prstGeom prst="roundRect">
            <a:avLst>
              <a:gd name="adj" fmla="val 25000"/>
            </a:avLst>
          </a:prstGeom>
          <a:solidFill>
            <a:srgbClr val="EFE6D6"/>
          </a:solidFill>
          <a:ln w="12600">
            <a:solidFill>
              <a:srgbClr val="EFE6D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07" name="Text 137"/>
          <p:cNvSpPr/>
          <p:nvPr/>
        </p:nvSpPr>
        <p:spPr>
          <a:xfrm>
            <a:off x="9930240" y="5495400"/>
            <a:ext cx="12247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00" b="1" u="none" strike="noStrike">
                <a:solidFill>
                  <a:srgbClr val="082B2E"/>
                </a:solidFill>
                <a:effectLst/>
                <a:uFillTx/>
                <a:latin typeface="Noto Sans CJK TC"/>
                <a:ea typeface="DejaVu Sans"/>
              </a:rPr>
              <a:t>完成預約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39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5C7473"/>
                </a:solidFill>
                <a:effectLst/>
                <a:uFillTx/>
                <a:latin typeface="Inter"/>
                <a:ea typeface="Inter"/>
              </a:rPr>
              <a:t>14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Rectangle 593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0" name="TextBox 594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595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Rectangle 596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3" name="TextBox 597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Image 0" descr="/mnt/data/hyrox_assets_v2/p10_global_vision.png"/>
          <p:cNvPicPr/>
          <p:nvPr/>
        </p:nvPicPr>
        <p:blipFill>
          <a:blip r:embed="rId3"/>
          <a:srcRect l="13658" r="13658"/>
          <a:stretch/>
        </p:blipFill>
        <p:spPr>
          <a:xfrm>
            <a:off x="0" y="0"/>
            <a:ext cx="1219104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5" name="Shape 0"/>
          <p:cNvSpPr/>
          <p:nvPr/>
        </p:nvSpPr>
        <p:spPr>
          <a:xfrm>
            <a:off x="0" y="0"/>
            <a:ext cx="5714280" cy="6857280"/>
          </a:xfrm>
          <a:prstGeom prst="rect">
            <a:avLst/>
          </a:prstGeom>
          <a:solidFill>
            <a:srgbClr val="113C3E">
              <a:alpha val="93000"/>
            </a:srgbClr>
          </a:solidFill>
          <a:ln w="12600">
            <a:solidFill>
              <a:srgbClr val="113C3E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16" name="Shape 1"/>
          <p:cNvSpPr/>
          <p:nvPr/>
        </p:nvSpPr>
        <p:spPr>
          <a:xfrm>
            <a:off x="548640" y="489240"/>
            <a:ext cx="4982760" cy="5878800"/>
          </a:xfrm>
          <a:prstGeom prst="roundRect">
            <a:avLst>
              <a:gd name="adj" fmla="val 1468"/>
            </a:avLst>
          </a:prstGeom>
          <a:solidFill>
            <a:srgbClr val="F4E9D7">
              <a:alpha val="93000"/>
            </a:srgbClr>
          </a:solidFill>
          <a:ln w="10080">
            <a:solidFill>
              <a:srgbClr val="B89A42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17" name="Text 2"/>
          <p:cNvSpPr/>
          <p:nvPr/>
        </p:nvSpPr>
        <p:spPr>
          <a:xfrm>
            <a:off x="594360" y="530280"/>
            <a:ext cx="447984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0A3B3E"/>
                </a:solidFill>
                <a:effectLst/>
                <a:uFillTx/>
                <a:latin typeface="Inter"/>
                <a:ea typeface="DejaVu Sans"/>
              </a:rPr>
              <a:t>15  ·  </a:t>
            </a:r>
            <a:r>
              <a:rPr lang="zh-CN" sz="1050" b="1" u="none" strike="noStrike">
                <a:solidFill>
                  <a:srgbClr val="0A3B3E"/>
                </a:solidFill>
                <a:effectLst/>
                <a:uFillTx/>
                <a:latin typeface="Inter"/>
                <a:ea typeface="DejaVu Sans"/>
              </a:rPr>
              <a:t>成效驗證與願景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7"/>
          <p:cNvSpPr/>
          <p:nvPr/>
        </p:nvSpPr>
        <p:spPr>
          <a:xfrm>
            <a:off x="731520" y="868680"/>
            <a:ext cx="4388400" cy="52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6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成效驗證與全球願景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8"/>
          <p:cNvSpPr/>
          <p:nvPr/>
        </p:nvSpPr>
        <p:spPr>
          <a:xfrm>
            <a:off x="731520" y="1453680"/>
            <a:ext cx="4389120" cy="360"/>
          </a:xfrm>
          <a:prstGeom prst="line">
            <a:avLst/>
          </a:prstGeom>
          <a:ln w="2160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20" name="Text 9"/>
          <p:cNvSpPr/>
          <p:nvPr/>
        </p:nvSpPr>
        <p:spPr>
          <a:xfrm>
            <a:off x="777240" y="1710000"/>
            <a:ext cx="246816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GA4 </a:t>
            </a:r>
            <a:r>
              <a:rPr lang="zh-CN" sz="900" b="1" u="none" strike="noStrike">
                <a:solidFill>
                  <a:srgbClr val="C76A43"/>
                </a:solidFill>
                <a:effectLst/>
                <a:uFillTx/>
                <a:latin typeface="Inter"/>
                <a:ea typeface="DejaVu Sans"/>
              </a:rPr>
              <a:t>追蹤事件路徑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10"/>
          <p:cNvSpPr/>
          <p:nvPr/>
        </p:nvSpPr>
        <p:spPr>
          <a:xfrm>
            <a:off x="804600" y="2030040"/>
            <a:ext cx="785520" cy="328320"/>
          </a:xfrm>
          <a:prstGeom prst="roundRect">
            <a:avLst>
              <a:gd name="adj" fmla="val 22222"/>
            </a:avLst>
          </a:prstGeom>
          <a:solidFill>
            <a:srgbClr val="E6EFEA"/>
          </a:solidFill>
          <a:ln w="12600">
            <a:solidFill>
              <a:srgbClr val="E6EF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22" name="Text 11"/>
          <p:cNvSpPr/>
          <p:nvPr/>
        </p:nvSpPr>
        <p:spPr>
          <a:xfrm>
            <a:off x="877680" y="2048400"/>
            <a:ext cx="6393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曝光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3" name="Image 1" descr="preencoded.png"/>
          <p:cNvPicPr/>
          <p:nvPr/>
        </p:nvPicPr>
        <p:blipFill>
          <a:blip r:embed="rId4"/>
          <a:stretch/>
        </p:blipFill>
        <p:spPr>
          <a:xfrm>
            <a:off x="1645920" y="2112120"/>
            <a:ext cx="127440" cy="12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4" name="Shape 12"/>
          <p:cNvSpPr/>
          <p:nvPr/>
        </p:nvSpPr>
        <p:spPr>
          <a:xfrm>
            <a:off x="1764720" y="2030040"/>
            <a:ext cx="785520" cy="328320"/>
          </a:xfrm>
          <a:prstGeom prst="roundRect">
            <a:avLst>
              <a:gd name="adj" fmla="val 22222"/>
            </a:avLst>
          </a:prstGeom>
          <a:solidFill>
            <a:srgbClr val="E6EFEA"/>
          </a:solidFill>
          <a:ln w="12600">
            <a:solidFill>
              <a:srgbClr val="E6EF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25" name="Text 13"/>
          <p:cNvSpPr/>
          <p:nvPr/>
        </p:nvSpPr>
        <p:spPr>
          <a:xfrm>
            <a:off x="1837800" y="2048400"/>
            <a:ext cx="6393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搜尋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6" name="Image 2" descr="preencoded.png"/>
          <p:cNvPicPr/>
          <p:nvPr/>
        </p:nvPicPr>
        <p:blipFill>
          <a:blip r:embed="rId4"/>
          <a:stretch/>
        </p:blipFill>
        <p:spPr>
          <a:xfrm>
            <a:off x="2606040" y="2112120"/>
            <a:ext cx="127440" cy="12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7" name="Shape 14"/>
          <p:cNvSpPr/>
          <p:nvPr/>
        </p:nvSpPr>
        <p:spPr>
          <a:xfrm>
            <a:off x="2724840" y="2030040"/>
            <a:ext cx="785520" cy="328320"/>
          </a:xfrm>
          <a:prstGeom prst="roundRect">
            <a:avLst>
              <a:gd name="adj" fmla="val 22222"/>
            </a:avLst>
          </a:prstGeom>
          <a:solidFill>
            <a:srgbClr val="E6EFEA"/>
          </a:solidFill>
          <a:ln w="12600">
            <a:solidFill>
              <a:srgbClr val="E6EF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28" name="Text 15"/>
          <p:cNvSpPr/>
          <p:nvPr/>
        </p:nvSpPr>
        <p:spPr>
          <a:xfrm>
            <a:off x="2797920" y="2048400"/>
            <a:ext cx="6393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現場 </a:t>
            </a:r>
            <a:r>
              <a:rPr lang="en-US" sz="83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QR </a:t>
            </a:r>
            <a:r>
              <a:rPr lang="zh-CN" sz="83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碼 碼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9" name="Image 3" descr="preencoded.png"/>
          <p:cNvPicPr/>
          <p:nvPr/>
        </p:nvPicPr>
        <p:blipFill>
          <a:blip r:embed="rId4"/>
          <a:stretch/>
        </p:blipFill>
        <p:spPr>
          <a:xfrm>
            <a:off x="3566160" y="2112120"/>
            <a:ext cx="127440" cy="12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0" name="Shape 16"/>
          <p:cNvSpPr/>
          <p:nvPr/>
        </p:nvSpPr>
        <p:spPr>
          <a:xfrm>
            <a:off x="3684960" y="2030040"/>
            <a:ext cx="785520" cy="328320"/>
          </a:xfrm>
          <a:prstGeom prst="roundRect">
            <a:avLst>
              <a:gd name="adj" fmla="val 22222"/>
            </a:avLst>
          </a:prstGeom>
          <a:solidFill>
            <a:srgbClr val="E6EFEA"/>
          </a:solidFill>
          <a:ln w="12600">
            <a:solidFill>
              <a:srgbClr val="E6EF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31" name="Text 17"/>
          <p:cNvSpPr/>
          <p:nvPr/>
        </p:nvSpPr>
        <p:spPr>
          <a:xfrm>
            <a:off x="3758040" y="2048400"/>
            <a:ext cx="6393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體驗頁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2" name="Image 4" descr="preencoded.png"/>
          <p:cNvPicPr/>
          <p:nvPr/>
        </p:nvPicPr>
        <p:blipFill>
          <a:blip r:embed="rId4"/>
          <a:stretch/>
        </p:blipFill>
        <p:spPr>
          <a:xfrm>
            <a:off x="4526280" y="2112120"/>
            <a:ext cx="127440" cy="12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3" name="Shape 18"/>
          <p:cNvSpPr/>
          <p:nvPr/>
        </p:nvSpPr>
        <p:spPr>
          <a:xfrm>
            <a:off x="4645080" y="2030040"/>
            <a:ext cx="785520" cy="328320"/>
          </a:xfrm>
          <a:prstGeom prst="roundRect">
            <a:avLst>
              <a:gd name="adj" fmla="val 22222"/>
            </a:avLst>
          </a:prstGeom>
          <a:solidFill>
            <a:srgbClr val="B89A42"/>
          </a:solidFill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34" name="Text 19"/>
          <p:cNvSpPr/>
          <p:nvPr/>
        </p:nvSpPr>
        <p:spPr>
          <a:xfrm>
            <a:off x="4718160" y="2048400"/>
            <a:ext cx="639360" cy="29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3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預約完成</a:t>
            </a:r>
            <a:endParaRPr lang="en-US" sz="8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20"/>
          <p:cNvSpPr/>
          <p:nvPr/>
        </p:nvSpPr>
        <p:spPr>
          <a:xfrm>
            <a:off x="749880" y="2679120"/>
            <a:ext cx="2230560" cy="1901160"/>
          </a:xfrm>
          <a:prstGeom prst="roundRect">
            <a:avLst>
              <a:gd name="adj" fmla="val 2885"/>
            </a:avLst>
          </a:prstGeom>
          <a:solidFill>
            <a:srgbClr val="FFFEFA">
              <a:alpha val="98000"/>
            </a:srgbClr>
          </a:solidFill>
          <a:ln w="10080">
            <a:solidFill>
              <a:srgbClr val="DCCF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36" name="Shape 21"/>
          <p:cNvSpPr/>
          <p:nvPr/>
        </p:nvSpPr>
        <p:spPr>
          <a:xfrm>
            <a:off x="749880" y="2679120"/>
            <a:ext cx="2230560" cy="54000"/>
          </a:xfrm>
          <a:prstGeom prst="rect">
            <a:avLst/>
          </a:prstGeom>
          <a:solidFill>
            <a:srgbClr val="B89A42"/>
          </a:solidFill>
          <a:ln w="1260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37" name="Text 22"/>
          <p:cNvSpPr/>
          <p:nvPr/>
        </p:nvSpPr>
        <p:spPr>
          <a:xfrm>
            <a:off x="932760" y="2898720"/>
            <a:ext cx="137088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核心成效指標（</a:t>
            </a:r>
            <a:r>
              <a:rPr lang="en-US" sz="14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KPI</a:t>
            </a:r>
            <a:r>
              <a:rPr lang="zh-CN" sz="14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DejaVu Sans"/>
              </a:rPr>
              <a:t>）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8" name="Image 5" descr="preencoded.png"/>
          <p:cNvPicPr/>
          <p:nvPr/>
        </p:nvPicPr>
        <p:blipFill>
          <a:blip r:embed="rId5"/>
          <a:stretch/>
        </p:blipFill>
        <p:spPr>
          <a:xfrm>
            <a:off x="914400" y="341064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9" name="Text 23"/>
          <p:cNvSpPr/>
          <p:nvPr/>
        </p:nvSpPr>
        <p:spPr>
          <a:xfrm>
            <a:off x="1225440" y="3364920"/>
            <a:ext cx="15721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0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現場導流率（</a:t>
            </a:r>
            <a:r>
              <a:rPr lang="en-US" sz="880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QR</a:t>
            </a:r>
            <a:r>
              <a:rPr lang="zh-CN" sz="880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／接觸數）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0" name="Image 6" descr="preencoded.png"/>
          <p:cNvPicPr/>
          <p:nvPr/>
        </p:nvPicPr>
        <p:blipFill>
          <a:blip r:embed="rId6"/>
          <a:stretch/>
        </p:blipFill>
        <p:spPr>
          <a:xfrm>
            <a:off x="914400" y="382212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1" name="Text 24"/>
          <p:cNvSpPr/>
          <p:nvPr/>
        </p:nvSpPr>
        <p:spPr>
          <a:xfrm>
            <a:off x="1225440" y="3776400"/>
            <a:ext cx="15721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0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預約轉換率（完成預約／進入頁）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2" name="Image 7" descr="preencoded.png"/>
          <p:cNvPicPr/>
          <p:nvPr/>
        </p:nvPicPr>
        <p:blipFill>
          <a:blip r:embed="rId7"/>
          <a:stretch/>
        </p:blipFill>
        <p:spPr>
          <a:xfrm>
            <a:off x="914400" y="4233600"/>
            <a:ext cx="21888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3" name="Text 25"/>
          <p:cNvSpPr/>
          <p:nvPr/>
        </p:nvSpPr>
        <p:spPr>
          <a:xfrm>
            <a:off x="1225440" y="4187880"/>
            <a:ext cx="15721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80" b="1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年度啟用率（年度禮遇啟用／通知）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26"/>
          <p:cNvSpPr/>
          <p:nvPr/>
        </p:nvSpPr>
        <p:spPr>
          <a:xfrm>
            <a:off x="3163680" y="2679120"/>
            <a:ext cx="2075040" cy="1901160"/>
          </a:xfrm>
          <a:prstGeom prst="roundRect">
            <a:avLst>
              <a:gd name="adj" fmla="val 2885"/>
            </a:avLst>
          </a:prstGeom>
          <a:solidFill>
            <a:srgbClr val="FFFEFA">
              <a:alpha val="98000"/>
            </a:srgbClr>
          </a:solidFill>
          <a:ln w="10080">
            <a:solidFill>
              <a:srgbClr val="DCCFB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45" name="Shape 27"/>
          <p:cNvSpPr/>
          <p:nvPr/>
        </p:nvSpPr>
        <p:spPr>
          <a:xfrm>
            <a:off x="3163680" y="2679120"/>
            <a:ext cx="2075040" cy="54000"/>
          </a:xfrm>
          <a:prstGeom prst="rect">
            <a:avLst/>
          </a:prstGeom>
          <a:solidFill>
            <a:srgbClr val="C76A43"/>
          </a:solidFill>
          <a:ln w="12600">
            <a:solidFill>
              <a:srgbClr val="C76A4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720" rIns="90000" bIns="972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sp>
        <p:nvSpPr>
          <p:cNvPr id="646" name="Text 28"/>
          <p:cNvSpPr/>
          <p:nvPr/>
        </p:nvSpPr>
        <p:spPr>
          <a:xfrm>
            <a:off x="3346560" y="2898720"/>
            <a:ext cx="1508040" cy="273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A/B </a:t>
            </a:r>
            <a:r>
              <a:rPr lang="zh-CN" sz="14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測試設計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29"/>
          <p:cNvSpPr/>
          <p:nvPr/>
        </p:nvSpPr>
        <p:spPr>
          <a:xfrm>
            <a:off x="3346560" y="3401640"/>
            <a:ext cx="1599480" cy="91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DejaVu Sans"/>
              </a:rPr>
              <a:t>• 開場鉤子：痛點 對照 下一場訓練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DejaVu Sans"/>
              </a:rPr>
              <a:t>• 行動呼籲：立即預約 對照 30 </a:t>
            </a:r>
            <a:r>
              <a:rPr lang="zh-CN" sz="115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DejaVu Sans"/>
              </a:rPr>
              <a:t>分鐘重新開機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DejaVu Sans"/>
              </a:rPr>
              <a:t>• 預約頁：功能說明 對照 情境故事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30"/>
          <p:cNvSpPr/>
          <p:nvPr/>
        </p:nvSpPr>
        <p:spPr>
          <a:xfrm>
            <a:off x="777240" y="4883040"/>
            <a:ext cx="4342680" cy="65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從台灣出發，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21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走向全球 </a:t>
            </a:r>
            <a:r>
              <a:rPr lang="en-US" sz="21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HYROX </a:t>
            </a:r>
            <a:r>
              <a:rPr lang="zh-CN" sz="2100" b="1" u="none" strike="noStrike">
                <a:solidFill>
                  <a:srgbClr val="113C3E"/>
                </a:solidFill>
                <a:effectLst/>
                <a:uFillTx/>
                <a:latin typeface="Noto Sans CJK TC"/>
                <a:ea typeface="Noto Sans CJK TC"/>
              </a:rPr>
              <a:t>場景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31"/>
          <p:cNvSpPr/>
          <p:nvPr/>
        </p:nvSpPr>
        <p:spPr>
          <a:xfrm>
            <a:off x="777240" y="5614560"/>
            <a:ext cx="4342680" cy="56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5C7473"/>
                </a:solidFill>
                <a:effectLst/>
                <a:uFillTx/>
                <a:latin typeface="Noto Sans CJK TC"/>
                <a:ea typeface="Noto Sans CJK TC"/>
              </a:rPr>
              <a:t>先在台北驗證「現場接觸 → 體驗預約 → 長期關係」的行銷閉環，再把 恢復合作模式 模型複製到亞洲與全球賽事。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32"/>
          <p:cNvSpPr/>
          <p:nvPr/>
        </p:nvSpPr>
        <p:spPr>
          <a:xfrm>
            <a:off x="6400800" y="5715000"/>
            <a:ext cx="502200" cy="502200"/>
          </a:xfrm>
          <a:prstGeom prst="ellipse">
            <a:avLst/>
          </a:prstGeom>
          <a:solidFill>
            <a:srgbClr val="113C3E">
              <a:alpha val="80000"/>
            </a:srgbClr>
          </a:solidFill>
          <a:ln w="140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651" name="Image 8" descr="preencoded.png"/>
          <p:cNvPicPr/>
          <p:nvPr/>
        </p:nvPicPr>
        <p:blipFill>
          <a:blip r:embed="rId8"/>
          <a:stretch/>
        </p:blipFill>
        <p:spPr>
          <a:xfrm>
            <a:off x="6537960" y="58521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2" name="Text 33"/>
          <p:cNvSpPr/>
          <p:nvPr/>
        </p:nvSpPr>
        <p:spPr>
          <a:xfrm>
            <a:off x="6263640" y="6318360"/>
            <a:ext cx="7765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賽事場景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34"/>
          <p:cNvSpPr/>
          <p:nvPr/>
        </p:nvSpPr>
        <p:spPr>
          <a:xfrm>
            <a:off x="7635240" y="5715000"/>
            <a:ext cx="502200" cy="502200"/>
          </a:xfrm>
          <a:prstGeom prst="ellipse">
            <a:avLst/>
          </a:prstGeom>
          <a:solidFill>
            <a:srgbClr val="113C3E">
              <a:alpha val="80000"/>
            </a:srgbClr>
          </a:solidFill>
          <a:ln w="1404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654" name="Image 9" descr="preencoded.png"/>
          <p:cNvPicPr/>
          <p:nvPr/>
        </p:nvPicPr>
        <p:blipFill>
          <a:blip r:embed="rId9"/>
          <a:stretch/>
        </p:blipFill>
        <p:spPr>
          <a:xfrm>
            <a:off x="7772400" y="58521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5" name="Text 35"/>
          <p:cNvSpPr/>
          <p:nvPr/>
        </p:nvSpPr>
        <p:spPr>
          <a:xfrm>
            <a:off x="7498080" y="6318360"/>
            <a:ext cx="7765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恢復體驗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36"/>
          <p:cNvSpPr/>
          <p:nvPr/>
        </p:nvSpPr>
        <p:spPr>
          <a:xfrm>
            <a:off x="8869680" y="5715000"/>
            <a:ext cx="502200" cy="502200"/>
          </a:xfrm>
          <a:prstGeom prst="ellipse">
            <a:avLst/>
          </a:prstGeom>
          <a:solidFill>
            <a:srgbClr val="113C3E">
              <a:alpha val="80000"/>
            </a:srgbClr>
          </a:solidFill>
          <a:ln w="14040">
            <a:solidFill>
              <a:srgbClr val="2DBFC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657" name="Image 10" descr="preencoded.png"/>
          <p:cNvPicPr/>
          <p:nvPr/>
        </p:nvPicPr>
        <p:blipFill>
          <a:blip r:embed="rId10"/>
          <a:stretch/>
        </p:blipFill>
        <p:spPr>
          <a:xfrm>
            <a:off x="9006840" y="58521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8" name="Text 37"/>
          <p:cNvSpPr/>
          <p:nvPr/>
        </p:nvSpPr>
        <p:spPr>
          <a:xfrm>
            <a:off x="8732520" y="6318360"/>
            <a:ext cx="7765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全球社群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38"/>
          <p:cNvSpPr/>
          <p:nvPr/>
        </p:nvSpPr>
        <p:spPr>
          <a:xfrm>
            <a:off x="10104120" y="5715000"/>
            <a:ext cx="502200" cy="502200"/>
          </a:xfrm>
          <a:prstGeom prst="ellipse">
            <a:avLst/>
          </a:prstGeom>
          <a:solidFill>
            <a:srgbClr val="113C3E">
              <a:alpha val="80000"/>
            </a:srgbClr>
          </a:solidFill>
          <a:ln w="14040">
            <a:solidFill>
              <a:srgbClr val="B89A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Noto Sans CJK TC"/>
              <a:ea typeface="DejaVu Sans"/>
            </a:endParaRPr>
          </a:p>
        </p:txBody>
      </p:sp>
      <p:pic>
        <p:nvPicPr>
          <p:cNvPr id="660" name="Image 11" descr="preencoded.png"/>
          <p:cNvPicPr/>
          <p:nvPr/>
        </p:nvPicPr>
        <p:blipFill>
          <a:blip r:embed="rId11"/>
          <a:stretch/>
        </p:blipFill>
        <p:spPr>
          <a:xfrm>
            <a:off x="10241280" y="5852160"/>
            <a:ext cx="227880" cy="22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1" name="Text 39"/>
          <p:cNvSpPr/>
          <p:nvPr/>
        </p:nvSpPr>
        <p:spPr>
          <a:xfrm>
            <a:off x="9966960" y="6318360"/>
            <a:ext cx="776520" cy="20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820" b="1" u="none" strike="noStrike">
                <a:solidFill>
                  <a:srgbClr val="FFFDF8"/>
                </a:solidFill>
                <a:effectLst/>
                <a:uFillTx/>
                <a:latin typeface="Noto Sans CJK TC"/>
                <a:ea typeface="Noto Sans CJK TC"/>
              </a:rPr>
              <a:t>長期關係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40"/>
          <p:cNvSpPr/>
          <p:nvPr/>
        </p:nvSpPr>
        <p:spPr>
          <a:xfrm>
            <a:off x="5834160" y="4705200"/>
            <a:ext cx="6092280" cy="63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600" b="1" u="none" strike="noStrike">
                <a:solidFill>
                  <a:srgbClr val="FFFDF8"/>
                </a:solidFill>
                <a:effectLst/>
                <a:uFillTx/>
                <a:latin typeface="Noto Serif CJK TC"/>
                <a:ea typeface="Noto Serif CJK TC"/>
              </a:rPr>
              <a:t>「我們把一場賽事，轉化成 </a:t>
            </a:r>
            <a:r>
              <a:rPr lang="en-US" sz="1600" b="1" u="none" strike="noStrike">
                <a:solidFill>
                  <a:srgbClr val="FFFDF8"/>
                </a:solidFill>
                <a:effectLst/>
                <a:uFillTx/>
                <a:latin typeface="Noto Serif CJK TC"/>
                <a:ea typeface="Noto Serif CJK TC"/>
              </a:rPr>
              <a:t>REBOOT </a:t>
            </a:r>
            <a:r>
              <a:rPr lang="zh-CN" sz="1600" b="1" u="none" strike="noStrike">
                <a:solidFill>
                  <a:srgbClr val="FFFDF8"/>
                </a:solidFill>
                <a:effectLst/>
                <a:uFillTx/>
                <a:latin typeface="Noto Serif CJK TC"/>
                <a:ea typeface="Noto Serif CJK TC"/>
              </a:rPr>
              <a:t>與運動者建立長期關係的入口。」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42"/>
          <p:cNvSpPr/>
          <p:nvPr/>
        </p:nvSpPr>
        <p:spPr>
          <a:xfrm>
            <a:off x="11201400" y="6473880"/>
            <a:ext cx="410760" cy="18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D8E5E2"/>
                </a:solidFill>
                <a:effectLst/>
                <a:uFillTx/>
                <a:latin typeface="Inter"/>
                <a:ea typeface="Inter"/>
              </a:rPr>
              <a:t>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4" name="Picture 56" descr="p15_logo.jpg"/>
          <p:cNvPicPr/>
          <p:nvPr/>
        </p:nvPicPr>
        <p:blipFill>
          <a:blip r:embed="rId12"/>
          <a:stretch/>
        </p:blipFill>
        <p:spPr>
          <a:xfrm>
            <a:off x="6949800" y="2304720"/>
            <a:ext cx="3291120" cy="109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5" name="TextBox 58"/>
          <p:cNvSpPr/>
          <p:nvPr/>
        </p:nvSpPr>
        <p:spPr>
          <a:xfrm>
            <a:off x="8366760" y="1891440"/>
            <a:ext cx="502560" cy="41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文字方塊 2"/>
          <p:cNvSpPr/>
          <p:nvPr/>
        </p:nvSpPr>
        <p:spPr>
          <a:xfrm>
            <a:off x="7760520" y="1368000"/>
            <a:ext cx="203508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u="none" strike="noStrike">
                <a:solidFill>
                  <a:srgbClr val="FFC000"/>
                </a:solidFill>
                <a:effectLst/>
                <a:highlight>
                  <a:srgbClr val="008080"/>
                </a:highlight>
                <a:uFillTx/>
                <a:latin typeface="Arial"/>
                <a:ea typeface="DejaVu Sans"/>
              </a:rPr>
              <a:t>REBOOT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Rectangle 651"/>
          <p:cNvSpPr/>
          <p:nvPr/>
        </p:nvSpPr>
        <p:spPr>
          <a:xfrm>
            <a:off x="10296000" y="311040"/>
            <a:ext cx="840960" cy="273960"/>
          </a:xfrm>
          <a:prstGeom prst="rect">
            <a:avLst/>
          </a:prstGeom>
          <a:solidFill>
            <a:srgbClr val="008A89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8" name="TextBox 652"/>
          <p:cNvSpPr/>
          <p:nvPr/>
        </p:nvSpPr>
        <p:spPr>
          <a:xfrm>
            <a:off x="10296000" y="329760"/>
            <a:ext cx="840960" cy="23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50" b="1" u="none" strike="noStrike">
                <a:solidFill>
                  <a:srgbClr val="FFC000"/>
                </a:solidFill>
                <a:effectLst/>
                <a:uFillTx/>
                <a:latin typeface="Arial"/>
                <a:ea typeface="DejaVu Sans"/>
              </a:rPr>
              <a:t>REBOOT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653"/>
          <p:cNvSpPr/>
          <p:nvPr/>
        </p:nvSpPr>
        <p:spPr>
          <a:xfrm>
            <a:off x="11159640" y="344880"/>
            <a:ext cx="100800" cy="20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C76942"/>
                </a:solidFill>
                <a:effectLst/>
                <a:uFillTx/>
                <a:latin typeface="Arial"/>
                <a:ea typeface="DejaVu Sans"/>
              </a:rPr>
              <a:t>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Rectangle 654"/>
          <p:cNvSpPr/>
          <p:nvPr/>
        </p:nvSpPr>
        <p:spPr>
          <a:xfrm>
            <a:off x="11283840" y="311040"/>
            <a:ext cx="694440" cy="273960"/>
          </a:xfrm>
          <a:prstGeom prst="rect">
            <a:avLst/>
          </a:prstGeom>
          <a:solidFill>
            <a:srgbClr val="000000"/>
          </a:solidFill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71" name="TextBox 655"/>
          <p:cNvSpPr/>
          <p:nvPr/>
        </p:nvSpPr>
        <p:spPr>
          <a:xfrm>
            <a:off x="11394720" y="367920"/>
            <a:ext cx="472680" cy="16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HYROX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</TotalTime>
  <Words>2505</Words>
  <Application>Microsoft Office PowerPoint</Application>
  <PresentationFormat>寬螢幕</PresentationFormat>
  <Paragraphs>355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15</vt:i4>
      </vt:variant>
    </vt:vector>
  </HeadingPairs>
  <TitlesOfParts>
    <vt:vector size="24" baseType="lpstr">
      <vt:lpstr>Inter</vt:lpstr>
      <vt:lpstr>Noto Sans CJK TC</vt:lpstr>
      <vt:lpstr>Noto Serif CJK TC</vt:lpstr>
      <vt:lpstr>Arial</vt:lpstr>
      <vt:lpstr>Symbol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REBOOT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2</cp:revision>
  <dcterms:modified xsi:type="dcterms:W3CDTF">2026-08-26T08:26:20Z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2026-08-23T16:39:16Z</dcterms:created>
  <dc:creator>OpenAI</dc:creator>
  <dc:description/>
  <dc:language>en-US</dc:language>
  <cp:lastModifiedBy>OpenAI</cp:lastModifiedBy>
  <dcterms:modified xsi:type="dcterms:W3CDTF">2026-08-23T16:39:16Z</dcterms:modified>
  <cp:revision>1</cp:revision>
  <dc:subject>REBOOT × HYROX Taipei 2027 整合行銷企劃</dc:subject>
  <dc:title>REBOOT × HYROX Taipei 2027｜完賽不是終點，恢復才是下一場的起點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寬螢幕</vt:lpwstr>
  </property>
  <property fmtid="{D5CDD505-2E9C-101B-9397-08002B2CF9AE}" pid="4" name="Slides">
    <vt:r8>15</vt:r8>
  </property>
</Properties>
</file>